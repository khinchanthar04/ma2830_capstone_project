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8" r:id="rId3"/>
    <p:sldId id="269" r:id="rId4"/>
    <p:sldId id="258" r:id="rId5"/>
    <p:sldId id="259" r:id="rId6"/>
    <p:sldId id="260" r:id="rId7"/>
    <p:sldId id="261" r:id="rId8"/>
    <p:sldId id="262" r:id="rId9"/>
    <p:sldId id="264" r:id="rId10"/>
    <p:sldId id="263" r:id="rId11"/>
    <p:sldId id="270" r:id="rId12"/>
    <p:sldId id="271" r:id="rId13"/>
    <p:sldId id="265"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68052" autoAdjust="0"/>
  </p:normalViewPr>
  <p:slideViewPr>
    <p:cSldViewPr snapToGrid="0">
      <p:cViewPr varScale="1">
        <p:scale>
          <a:sx n="43" d="100"/>
          <a:sy n="43" d="100"/>
        </p:scale>
        <p:origin x="15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2E0B50-049A-4997-855B-3F6A68527CA1}" type="datetimeFigureOut">
              <a:rPr lang="en-SG" smtClean="0"/>
              <a:t>24/11/2025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F55291-C5A1-49A9-8CB6-6F19A94141EA}" type="slidenum">
              <a:rPr lang="en-SG" smtClean="0"/>
              <a:t>‹#›</a:t>
            </a:fld>
            <a:endParaRPr lang="en-SG"/>
          </a:p>
        </p:txBody>
      </p:sp>
    </p:spTree>
    <p:extLst>
      <p:ext uri="{BB962C8B-B14F-4D97-AF65-F5344CB8AC3E}">
        <p14:creationId xmlns:p14="http://schemas.microsoft.com/office/powerpoint/2010/main" val="4092623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asset is Nvidia. As we know, Nvidia has become the </a:t>
            </a:r>
            <a:r>
              <a:rPr lang="en-US" b="1" dirty="0"/>
              <a:t>backbone of the AI boom</a:t>
            </a:r>
            <a:r>
              <a:rPr lang="en-US" dirty="0"/>
              <a:t>, with its chips powering Large Language Models and generative AI platforms. It is the world leader in GPUs for gaming and data centers. While it offers high growth potential, it often trades at premium valuations and is highly volatile due to fluctuating AI demand."</a:t>
            </a:r>
            <a:endParaRPr lang="en-SG" dirty="0"/>
          </a:p>
        </p:txBody>
      </p:sp>
      <p:sp>
        <p:nvSpPr>
          <p:cNvPr id="4" name="Slide Number Placeholder 3"/>
          <p:cNvSpPr>
            <a:spLocks noGrp="1"/>
          </p:cNvSpPr>
          <p:nvPr>
            <p:ph type="sldNum" sz="quarter" idx="5"/>
          </p:nvPr>
        </p:nvSpPr>
        <p:spPr/>
        <p:txBody>
          <a:bodyPr/>
          <a:lstStyle/>
          <a:p>
            <a:fld id="{2AF55291-C5A1-49A9-8CB6-6F19A94141EA}" type="slidenum">
              <a:rPr lang="en-SG" smtClean="0"/>
              <a:t>2</a:t>
            </a:fld>
            <a:endParaRPr lang="en-SG"/>
          </a:p>
        </p:txBody>
      </p:sp>
    </p:spTree>
    <p:extLst>
      <p:ext uri="{BB962C8B-B14F-4D97-AF65-F5344CB8AC3E}">
        <p14:creationId xmlns:p14="http://schemas.microsoft.com/office/powerpoint/2010/main" val="4090468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hedge this volatility, I selected the Invesco QQQ Trust. This ETF tracks the Nasdaq-100 and serves as a proxy for the US tech sector. It provides diversification with exposure to giants like Apple and Microsoft. However, it is important to note that QQQ is still concentrated in high-beta stocks, meaning it can swing sharply with market sentiment."</a:t>
            </a:r>
            <a:endParaRPr lang="en-SG" dirty="0"/>
          </a:p>
        </p:txBody>
      </p:sp>
      <p:sp>
        <p:nvSpPr>
          <p:cNvPr id="4" name="Slide Number Placeholder 3"/>
          <p:cNvSpPr>
            <a:spLocks noGrp="1"/>
          </p:cNvSpPr>
          <p:nvPr>
            <p:ph type="sldNum" sz="quarter" idx="5"/>
          </p:nvPr>
        </p:nvSpPr>
        <p:spPr/>
        <p:txBody>
          <a:bodyPr/>
          <a:lstStyle/>
          <a:p>
            <a:fld id="{2AF55291-C5A1-49A9-8CB6-6F19A94141EA}" type="slidenum">
              <a:rPr lang="en-SG" smtClean="0"/>
              <a:t>3</a:t>
            </a:fld>
            <a:endParaRPr lang="en-SG"/>
          </a:p>
        </p:txBody>
      </p:sp>
    </p:spTree>
    <p:extLst>
      <p:ext uri="{BB962C8B-B14F-4D97-AF65-F5344CB8AC3E}">
        <p14:creationId xmlns:p14="http://schemas.microsoft.com/office/powerpoint/2010/main" val="1403227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historical behavior of the portfolio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Looking at this heatmap, we see distinct seasonal trends. The peak months for returns are historically </a:t>
            </a:r>
            <a:r>
              <a:rPr lang="en-US" b="1" dirty="0"/>
              <a:t>January and May</a:t>
            </a:r>
            <a:r>
              <a:rPr lang="en-US" dirty="0"/>
              <a:t>. For example, May 2023 was exceptionally strong , driven by Nvidia’s major announcements regarding generative AI and data center products. Conversely, 2024 has shown the most consistent high returns so far, likely due to favorable macro conditions."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Q1 spikes from Jan to Mar suggest early-early year momentum is a recurring opportunity </a:t>
            </a:r>
            <a:br>
              <a:rPr lang="en-US" dirty="0"/>
            </a:br>
            <a:br>
              <a:rPr lang="en-US" dirty="0"/>
            </a:br>
            <a:r>
              <a:rPr lang="en-US" dirty="0"/>
              <a:t>The heatmap supports your recommendation — dynamic hedging likely activated during flat periods to preserve capital.</a:t>
            </a:r>
          </a:p>
          <a:p>
            <a:endParaRPr lang="en-SG" dirty="0"/>
          </a:p>
        </p:txBody>
      </p:sp>
      <p:sp>
        <p:nvSpPr>
          <p:cNvPr id="4" name="Slide Number Placeholder 3"/>
          <p:cNvSpPr>
            <a:spLocks noGrp="1"/>
          </p:cNvSpPr>
          <p:nvPr>
            <p:ph type="sldNum" sz="quarter" idx="5"/>
          </p:nvPr>
        </p:nvSpPr>
        <p:spPr/>
        <p:txBody>
          <a:bodyPr/>
          <a:lstStyle/>
          <a:p>
            <a:fld id="{2AF55291-C5A1-49A9-8CB6-6F19A94141EA}" type="slidenum">
              <a:rPr lang="en-SG" smtClean="0"/>
              <a:t>4</a:t>
            </a:fld>
            <a:endParaRPr lang="en-SG"/>
          </a:p>
        </p:txBody>
      </p:sp>
    </p:spTree>
    <p:extLst>
      <p:ext uri="{BB962C8B-B14F-4D97-AF65-F5344CB8AC3E}">
        <p14:creationId xmlns:p14="http://schemas.microsoft.com/office/powerpoint/2010/main" val="3989881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dirty="0"/>
              <a:t>Left tail returns are as low as -0.17, indicating downside risk</a:t>
            </a:r>
          </a:p>
          <a:p>
            <a:r>
              <a:rPr lang="en-SG" sz="1200" dirty="0"/>
              <a:t>Right tail returns are up +0.17 fewer but notable which means high monthly spikes like may 2023</a:t>
            </a:r>
          </a:p>
          <a:p>
            <a:endParaRPr lang="en-SG" dirty="0"/>
          </a:p>
        </p:txBody>
      </p:sp>
      <p:sp>
        <p:nvSpPr>
          <p:cNvPr id="4" name="Slide Number Placeholder 3"/>
          <p:cNvSpPr>
            <a:spLocks noGrp="1"/>
          </p:cNvSpPr>
          <p:nvPr>
            <p:ph type="sldNum" sz="quarter" idx="5"/>
          </p:nvPr>
        </p:nvSpPr>
        <p:spPr/>
        <p:txBody>
          <a:bodyPr/>
          <a:lstStyle/>
          <a:p>
            <a:fld id="{2AF55291-C5A1-49A9-8CB6-6F19A94141EA}" type="slidenum">
              <a:rPr lang="en-SG" smtClean="0"/>
              <a:t>5</a:t>
            </a:fld>
            <a:endParaRPr lang="en-SG"/>
          </a:p>
        </p:txBody>
      </p:sp>
    </p:spTree>
    <p:extLst>
      <p:ext uri="{BB962C8B-B14F-4D97-AF65-F5344CB8AC3E}">
        <p14:creationId xmlns:p14="http://schemas.microsoft.com/office/powerpoint/2010/main" val="3665508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Static Hedge leads in return and Sharpe, offering the best risk-adjusted performance. </a:t>
            </a:r>
          </a:p>
          <a:p>
            <a:r>
              <a:rPr lang="en-US" b="1" dirty="0"/>
              <a:t>Dynamic Hedge minimizes drawdown and volatility, making it the most defensive.</a:t>
            </a:r>
          </a:p>
          <a:p>
            <a:r>
              <a:rPr lang="en-US" b="1" dirty="0"/>
              <a:t>Portfolio (Unhedged) has the lowest Sharpe and highest risk — suitable only for aggressive strategies.</a:t>
            </a:r>
          </a:p>
          <a:p>
            <a:endParaRPr lang="en-SG" dirty="0"/>
          </a:p>
        </p:txBody>
      </p:sp>
      <p:sp>
        <p:nvSpPr>
          <p:cNvPr id="4" name="Slide Number Placeholder 3"/>
          <p:cNvSpPr>
            <a:spLocks noGrp="1"/>
          </p:cNvSpPr>
          <p:nvPr>
            <p:ph type="sldNum" sz="quarter" idx="5"/>
          </p:nvPr>
        </p:nvSpPr>
        <p:spPr/>
        <p:txBody>
          <a:bodyPr/>
          <a:lstStyle/>
          <a:p>
            <a:fld id="{2AF55291-C5A1-49A9-8CB6-6F19A94141EA}" type="slidenum">
              <a:rPr lang="en-SG" smtClean="0"/>
              <a:t>10</a:t>
            </a:fld>
            <a:endParaRPr lang="en-SG"/>
          </a:p>
        </p:txBody>
      </p:sp>
    </p:spTree>
    <p:extLst>
      <p:ext uri="{BB962C8B-B14F-4D97-AF65-F5344CB8AC3E}">
        <p14:creationId xmlns:p14="http://schemas.microsoft.com/office/powerpoint/2010/main" val="1913543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For Balanced Investors (e.g., Pension Funds):</a:t>
            </a:r>
            <a:r>
              <a:rPr lang="en-US" dirty="0"/>
              <a:t> The </a:t>
            </a:r>
            <a:r>
              <a:rPr lang="en-US" b="1" dirty="0"/>
              <a:t>Static Hedge</a:t>
            </a:r>
            <a:r>
              <a:rPr lang="en-US" dirty="0"/>
              <a:t> is optimal. It balances return and risk effectively.</a:t>
            </a:r>
          </a:p>
          <a:p>
            <a:r>
              <a:rPr lang="en-US" b="1" dirty="0"/>
              <a:t>For Risk-Averse Investors:</a:t>
            </a:r>
            <a:r>
              <a:rPr lang="en-US" dirty="0"/>
              <a:t> The </a:t>
            </a:r>
            <a:r>
              <a:rPr lang="en-US" b="1" dirty="0"/>
              <a:t>Dynamic Hedge</a:t>
            </a:r>
            <a:r>
              <a:rPr lang="en-US" dirty="0"/>
              <a:t> is preferable. It is the best choice when capital preservation is the absolute priority, such as for funds near distribution.</a:t>
            </a:r>
          </a:p>
          <a:p>
            <a:r>
              <a:rPr lang="en-US" b="1" dirty="0"/>
              <a:t>Implementation:</a:t>
            </a:r>
            <a:r>
              <a:rPr lang="en-US" dirty="0"/>
              <a:t> I recommend using the </a:t>
            </a:r>
            <a:r>
              <a:rPr lang="en-US" b="1" dirty="0"/>
              <a:t>Rolling Beta dashboard</a:t>
            </a:r>
            <a:r>
              <a:rPr lang="en-US" dirty="0"/>
              <a:t> (specifically when beta exceeds 1.2) to trigger dynamic hedging. Furthermore, if the 90-day correlation dips significantly, we should consider layering in protective puts to guard against shocks that beta strategies might miss.</a:t>
            </a:r>
          </a:p>
          <a:p>
            <a:endParaRPr lang="en-SG" dirty="0"/>
          </a:p>
        </p:txBody>
      </p:sp>
      <p:sp>
        <p:nvSpPr>
          <p:cNvPr id="4" name="Slide Number Placeholder 3"/>
          <p:cNvSpPr>
            <a:spLocks noGrp="1"/>
          </p:cNvSpPr>
          <p:nvPr>
            <p:ph type="sldNum" sz="quarter" idx="5"/>
          </p:nvPr>
        </p:nvSpPr>
        <p:spPr/>
        <p:txBody>
          <a:bodyPr/>
          <a:lstStyle/>
          <a:p>
            <a:fld id="{2AF55291-C5A1-49A9-8CB6-6F19A94141EA}" type="slidenum">
              <a:rPr lang="en-SG" smtClean="0"/>
              <a:t>14</a:t>
            </a:fld>
            <a:endParaRPr lang="en-SG"/>
          </a:p>
        </p:txBody>
      </p:sp>
    </p:spTree>
    <p:extLst>
      <p:ext uri="{BB962C8B-B14F-4D97-AF65-F5344CB8AC3E}">
        <p14:creationId xmlns:p14="http://schemas.microsoft.com/office/powerpoint/2010/main" val="1974707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A6E6-075E-4828-AF88-09BD0A7425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3800DB-487B-4E23-AC0B-90C9ED4E1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4DF5B1-3694-42A9-866E-9F1FF6CF0C01}"/>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5" name="Footer Placeholder 4">
            <a:extLst>
              <a:ext uri="{FF2B5EF4-FFF2-40B4-BE49-F238E27FC236}">
                <a16:creationId xmlns:a16="http://schemas.microsoft.com/office/drawing/2014/main" id="{54718E67-8162-4BE0-9B01-22B89A120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68B9D-A8C9-40C5-85B0-14F435F39C81}"/>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896738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D5D7-9AEB-44F2-8A04-0694BE1520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CE933F-693D-4770-8DC4-A5A086AC8AC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A7849A-1CE6-4F5C-95D7-EA8DA5EE5551}"/>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5" name="Footer Placeholder 4">
            <a:extLst>
              <a:ext uri="{FF2B5EF4-FFF2-40B4-BE49-F238E27FC236}">
                <a16:creationId xmlns:a16="http://schemas.microsoft.com/office/drawing/2014/main" id="{39FE1FD0-B95E-4CF6-9A27-0F91F96DA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6123BE-5891-49D6-A758-867A98F38D77}"/>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35972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5FC7-1BEA-438E-A0A7-88FF55112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D5F5C0-417B-4A28-8AE9-A79AC74A62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BC6257-C490-4059-9E97-16E46673C65A}"/>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5" name="Footer Placeholder 4">
            <a:extLst>
              <a:ext uri="{FF2B5EF4-FFF2-40B4-BE49-F238E27FC236}">
                <a16:creationId xmlns:a16="http://schemas.microsoft.com/office/drawing/2014/main" id="{7A4051CD-74EC-43C1-9F21-D33BD297FC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95141-29DC-41BA-BE25-E899055F317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69453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FC21-AE04-4050-80E6-D9DCA4B50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885F7E-EF45-48F7-9E54-C6806D0E96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24501F-6ED5-4112-B037-D3E9F8CF2C8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61E48C-176E-4E60-8CB3-5425169963CD}"/>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6" name="Footer Placeholder 5">
            <a:extLst>
              <a:ext uri="{FF2B5EF4-FFF2-40B4-BE49-F238E27FC236}">
                <a16:creationId xmlns:a16="http://schemas.microsoft.com/office/drawing/2014/main" id="{5852202B-C929-4B39-AF47-D17C38F868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EEEBF3-930A-4A23-810D-C1880E7A6D29}"/>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723384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48E08-A828-430D-B8A6-7302E570AD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FF5402-465C-4E68-BF7E-BFE1177B5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69B917D-5EC9-44FC-B8A7-9ADF4ADC4FA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DCF5D4-E55C-42FF-A7E5-2466DE35B8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7579A7F-77F4-4169-8D51-21234419984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5923-3BB5-4F33-8E76-56665E95B55A}"/>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8" name="Footer Placeholder 7">
            <a:extLst>
              <a:ext uri="{FF2B5EF4-FFF2-40B4-BE49-F238E27FC236}">
                <a16:creationId xmlns:a16="http://schemas.microsoft.com/office/drawing/2014/main" id="{FA43FC79-7089-4373-88DC-12501E7820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E0BEB1-B009-47B7-B159-DE05E615E710}"/>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41972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FFCC-78CC-4E9D-A277-8230F2733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4CEFE7-D923-48C1-B2FE-8110829C69E3}"/>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4" name="Footer Placeholder 3">
            <a:extLst>
              <a:ext uri="{FF2B5EF4-FFF2-40B4-BE49-F238E27FC236}">
                <a16:creationId xmlns:a16="http://schemas.microsoft.com/office/drawing/2014/main" id="{A68F91C9-7841-4F7B-8F24-B5FF45B5B3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896739-CF17-4867-A5ED-317AD19F5A3B}"/>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953114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8942B-5ECF-4556-91C2-496E4C52EF8A}"/>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3" name="Footer Placeholder 2">
            <a:extLst>
              <a:ext uri="{FF2B5EF4-FFF2-40B4-BE49-F238E27FC236}">
                <a16:creationId xmlns:a16="http://schemas.microsoft.com/office/drawing/2014/main" id="{3E1589EF-E9AD-45F7-BFBE-6F8AD35703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18E0FA-5424-403C-8462-1B7C301C65D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246240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27A56-C315-441C-9002-DFD599AED2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F57D9A-8037-4B31-951B-4675ADA693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63141B-5121-4179-B3F6-529569122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60C32E-3427-4696-A55A-56886EA24AEB}"/>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6" name="Footer Placeholder 5">
            <a:extLst>
              <a:ext uri="{FF2B5EF4-FFF2-40B4-BE49-F238E27FC236}">
                <a16:creationId xmlns:a16="http://schemas.microsoft.com/office/drawing/2014/main" id="{7DDFE526-7D20-4EC0-9624-E77981295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AA82D7-E462-4060-85D6-85CF555401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830305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919B-BF68-4590-8CA9-A51BAC0F7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4BC1AA-5C68-47DC-BBF0-1E309865E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81A636-7F9C-43EC-B2F2-6FB3323CB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19410E-A050-4AA2-BC89-EF52EB1C34F6}"/>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6" name="Footer Placeholder 5">
            <a:extLst>
              <a:ext uri="{FF2B5EF4-FFF2-40B4-BE49-F238E27FC236}">
                <a16:creationId xmlns:a16="http://schemas.microsoft.com/office/drawing/2014/main" id="{B0C23AB0-18A5-4589-926D-C00F68CFE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4EE52-EECA-4C6E-83E9-6382044D356C}"/>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609688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36FE-B6CA-4D45-A719-6B51F3FF6D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B9388C-63B0-4DA8-97D0-BEEDCF401C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D9BDB0-2A2B-43AC-965A-A9E7E7F741CD}"/>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5" name="Footer Placeholder 4">
            <a:extLst>
              <a:ext uri="{FF2B5EF4-FFF2-40B4-BE49-F238E27FC236}">
                <a16:creationId xmlns:a16="http://schemas.microsoft.com/office/drawing/2014/main" id="{B67DA7C3-2A5B-4BED-A540-9136486CC5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888E8-31D6-4E51-9228-0D6066FED5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471160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010CA-6776-433E-8E25-97899E0828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391E6E-3CF5-4535-B37E-E30058EA284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ADEE3-AAA7-4846-8EC6-84B1537C1D74}"/>
              </a:ext>
            </a:extLst>
          </p:cNvPr>
          <p:cNvSpPr>
            <a:spLocks noGrp="1"/>
          </p:cNvSpPr>
          <p:nvPr>
            <p:ph type="dt" sz="half" idx="10"/>
          </p:nvPr>
        </p:nvSpPr>
        <p:spPr/>
        <p:txBody>
          <a:bodyPr/>
          <a:lstStyle/>
          <a:p>
            <a:fld id="{EED1C14C-A143-42F5-B247-D0E800131009}" type="datetimeFigureOut">
              <a:rPr lang="en-US" smtClean="0"/>
              <a:t>11/24/2025</a:t>
            </a:fld>
            <a:endParaRPr lang="en-US"/>
          </a:p>
        </p:txBody>
      </p:sp>
      <p:sp>
        <p:nvSpPr>
          <p:cNvPr id="5" name="Footer Placeholder 4">
            <a:extLst>
              <a:ext uri="{FF2B5EF4-FFF2-40B4-BE49-F238E27FC236}">
                <a16:creationId xmlns:a16="http://schemas.microsoft.com/office/drawing/2014/main" id="{001DABD6-6E60-4895-89B1-3604A484D2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4D314-6D1C-4A42-A445-B77646B2B29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19552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F6010-77C4-45FE-968C-712199A58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9B1B2C-5D5F-46D9-92F5-ECDF2816A1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34894-C6F5-46F1-BAA2-AFEA88E681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D1C14C-A143-42F5-B247-D0E800131009}" type="datetimeFigureOut">
              <a:rPr lang="en-US" smtClean="0"/>
              <a:t>11/24/2025</a:t>
            </a:fld>
            <a:endParaRPr lang="en-US"/>
          </a:p>
        </p:txBody>
      </p:sp>
      <p:sp>
        <p:nvSpPr>
          <p:cNvPr id="5" name="Footer Placeholder 4">
            <a:extLst>
              <a:ext uri="{FF2B5EF4-FFF2-40B4-BE49-F238E27FC236}">
                <a16:creationId xmlns:a16="http://schemas.microsoft.com/office/drawing/2014/main" id="{975B1C84-4663-4022-BBEA-7667FEBCF3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2820DA-1F3A-421F-A770-A6347089E3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03D32D-F1BC-4E9C-97E1-36CFF5B22341}" type="slidenum">
              <a:rPr lang="en-US" smtClean="0"/>
              <a:t>‹#›</a:t>
            </a:fld>
            <a:endParaRPr lang="en-US"/>
          </a:p>
        </p:txBody>
      </p:sp>
    </p:spTree>
    <p:extLst>
      <p:ext uri="{BB962C8B-B14F-4D97-AF65-F5344CB8AC3E}">
        <p14:creationId xmlns:p14="http://schemas.microsoft.com/office/powerpoint/2010/main" val="1904852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public.tableau.com/views/Capstone_Project_17639092503570/Story1"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slide1">
            <a:extLst>
              <a:ext uri="{FF2B5EF4-FFF2-40B4-BE49-F238E27FC236}">
                <a16:creationId xmlns:a16="http://schemas.microsoft.com/office/drawing/2014/main" id="{C2A8C1B4-DE53-4D35-92F0-D2156CC202FC}"/>
              </a:ext>
            </a:extLst>
          </p:cNvPr>
          <p:cNvSpPr>
            <a:spLocks noGrp="1"/>
          </p:cNvSpPr>
          <p:nvPr>
            <p:ph type="ctrTitle"/>
          </p:nvPr>
        </p:nvSpPr>
        <p:spPr>
          <a:xfrm>
            <a:off x="764126" y="2073689"/>
            <a:ext cx="10684151" cy="1991979"/>
          </a:xfrm>
        </p:spPr>
        <p:txBody>
          <a:bodyPr anchor="b">
            <a:normAutofit/>
          </a:bodyPr>
          <a:lstStyle/>
          <a:p>
            <a:r>
              <a:rPr lang="en-US" sz="5200" dirty="0">
                <a:solidFill>
                  <a:schemeClr val="tx2"/>
                </a:solidFill>
              </a:rPr>
              <a:t>Navigating Volatility: Portfolio Hedging with Nvidia and QQQ</a:t>
            </a:r>
            <a:endParaRPr lang="en-us" sz="5200" dirty="0">
              <a:solidFill>
                <a:schemeClr val="tx2"/>
              </a:solidFill>
              <a:hlinkClick r:id="rId2"/>
            </a:endParaRPr>
          </a:p>
        </p:txBody>
      </p:sp>
      <p:sp>
        <p:nvSpPr>
          <p:cNvPr id="3" name="slide1">
            <a:extLst>
              <a:ext uri="{FF2B5EF4-FFF2-40B4-BE49-F238E27FC236}">
                <a16:creationId xmlns:a16="http://schemas.microsoft.com/office/drawing/2014/main" id="{39BAE8E4-4D63-4590-A751-2E971D3C11B6}"/>
              </a:ext>
            </a:extLst>
          </p:cNvPr>
          <p:cNvSpPr>
            <a:spLocks noGrp="1"/>
          </p:cNvSpPr>
          <p:nvPr>
            <p:ph type="subTitle" idx="1"/>
          </p:nvPr>
        </p:nvSpPr>
        <p:spPr>
          <a:xfrm>
            <a:off x="1371597" y="4929064"/>
            <a:ext cx="9469211" cy="865639"/>
          </a:xfrm>
        </p:spPr>
        <p:txBody>
          <a:bodyPr anchor="t">
            <a:normAutofit/>
          </a:bodyPr>
          <a:lstStyle/>
          <a:p>
            <a:r>
              <a:rPr lang="en-US" dirty="0">
                <a:solidFill>
                  <a:schemeClr val="tx2"/>
                </a:solidFill>
              </a:rPr>
              <a:t>By: Khin Chan Thar</a:t>
            </a:r>
          </a:p>
        </p:txBody>
      </p:sp>
      <p:grpSp>
        <p:nvGrpSpPr>
          <p:cNvPr id="31" name="Group 3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32" name="Freeform: Shape 3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38" name="Freeform: Shape 3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599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33977A-4839-E696-214A-47B4004F9303}"/>
              </a:ext>
            </a:extLst>
          </p:cNvPr>
          <p:cNvSpPr>
            <a:spLocks noGrp="1"/>
          </p:cNvSpPr>
          <p:nvPr>
            <p:ph type="title"/>
          </p:nvPr>
        </p:nvSpPr>
        <p:spPr>
          <a:xfrm>
            <a:off x="411480" y="987552"/>
            <a:ext cx="4485861" cy="1088136"/>
          </a:xfrm>
        </p:spPr>
        <p:txBody>
          <a:bodyPr anchor="b">
            <a:normAutofit/>
          </a:bodyPr>
          <a:lstStyle/>
          <a:p>
            <a:r>
              <a:rPr lang="en-US" sz="3400" dirty="0"/>
              <a:t>Nvidia (NVDA)</a:t>
            </a:r>
            <a:endParaRPr lang="en-SG" sz="3400" dirty="0"/>
          </a:p>
        </p:txBody>
      </p:sp>
      <p:sp>
        <p:nvSpPr>
          <p:cNvPr id="1039" name="Rectangle 1038">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41" name="Rectangle 1040">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39C07A0-867F-6271-0BD6-C0BFC1A922C1}"/>
              </a:ext>
            </a:extLst>
          </p:cNvPr>
          <p:cNvSpPr>
            <a:spLocks noGrp="1"/>
          </p:cNvSpPr>
          <p:nvPr>
            <p:ph idx="1"/>
          </p:nvPr>
        </p:nvSpPr>
        <p:spPr>
          <a:xfrm>
            <a:off x="411479" y="2688336"/>
            <a:ext cx="4498848" cy="3584448"/>
          </a:xfrm>
        </p:spPr>
        <p:txBody>
          <a:bodyPr anchor="t">
            <a:normAutofit/>
          </a:bodyPr>
          <a:lstStyle/>
          <a:p>
            <a:r>
              <a:rPr lang="en-US" sz="1700" b="1" dirty="0"/>
              <a:t>Leading semiconductor company </a:t>
            </a:r>
            <a:r>
              <a:rPr lang="en-US" sz="1700" dirty="0"/>
              <a:t>driving </a:t>
            </a:r>
            <a:r>
              <a:rPr lang="en-US" sz="1700" b="1" dirty="0"/>
              <a:t>AI and graphics</a:t>
            </a:r>
            <a:r>
              <a:rPr lang="en-US" sz="1700" dirty="0"/>
              <a:t> innovation</a:t>
            </a:r>
          </a:p>
          <a:p>
            <a:r>
              <a:rPr lang="en-US" sz="1700" dirty="0"/>
              <a:t>World leader in </a:t>
            </a:r>
            <a:r>
              <a:rPr lang="en-US" sz="1700" b="1" dirty="0"/>
              <a:t>GPUs</a:t>
            </a:r>
            <a:r>
              <a:rPr lang="en-US" sz="1700" dirty="0"/>
              <a:t> for gaming, </a:t>
            </a:r>
            <a:r>
              <a:rPr lang="en-US" sz="1700" b="1" dirty="0"/>
              <a:t>data </a:t>
            </a:r>
            <a:r>
              <a:rPr lang="en-US" sz="1700" b="1" dirty="0" err="1"/>
              <a:t>centres</a:t>
            </a:r>
            <a:r>
              <a:rPr lang="en-US" sz="1700" dirty="0"/>
              <a:t>, and </a:t>
            </a:r>
            <a:r>
              <a:rPr lang="en-US" sz="1700" b="1" dirty="0"/>
              <a:t>AI workloads</a:t>
            </a:r>
            <a:r>
              <a:rPr lang="en-US" sz="1700" dirty="0"/>
              <a:t>.</a:t>
            </a:r>
          </a:p>
          <a:p>
            <a:r>
              <a:rPr lang="en-US" sz="1700" dirty="0"/>
              <a:t>Expanding into </a:t>
            </a:r>
            <a:r>
              <a:rPr lang="en-US" sz="1700" b="1" dirty="0"/>
              <a:t>AI chips</a:t>
            </a:r>
            <a:r>
              <a:rPr lang="en-US" sz="1700" dirty="0"/>
              <a:t>, autonomous driving and cloud computing.</a:t>
            </a:r>
          </a:p>
          <a:p>
            <a:r>
              <a:rPr lang="en-US" sz="1700" dirty="0"/>
              <a:t>NVDA has become the </a:t>
            </a:r>
            <a:r>
              <a:rPr lang="en-US" sz="1700" b="1" dirty="0"/>
              <a:t>backbone of the AI bloom</a:t>
            </a:r>
            <a:r>
              <a:rPr lang="en-US" sz="1700" dirty="0"/>
              <a:t>, with its chips powering large language models (LLMs) and generative AI platforms</a:t>
            </a:r>
          </a:p>
          <a:p>
            <a:r>
              <a:rPr lang="en-US" sz="1700" b="1" dirty="0"/>
              <a:t>High Growth potential </a:t>
            </a:r>
            <a:r>
              <a:rPr lang="en-US" sz="1700" dirty="0"/>
              <a:t>but also </a:t>
            </a:r>
            <a:r>
              <a:rPr lang="en-US" sz="1700" b="1" dirty="0"/>
              <a:t>volatile</a:t>
            </a:r>
            <a:r>
              <a:rPr lang="en-US" sz="1700" dirty="0"/>
              <a:t>, often trading at premium valuations due to AI demand. </a:t>
            </a:r>
          </a:p>
          <a:p>
            <a:endParaRPr lang="en-US" sz="1700" dirty="0"/>
          </a:p>
        </p:txBody>
      </p:sp>
      <p:pic>
        <p:nvPicPr>
          <p:cNvPr id="1032" name="Picture 8" descr="A Complete Guide to Nvidia: the Chipmaker Behind the AI Boom - Business  Insider">
            <a:extLst>
              <a:ext uri="{FF2B5EF4-FFF2-40B4-BE49-F238E27FC236}">
                <a16:creationId xmlns:a16="http://schemas.microsoft.com/office/drawing/2014/main" id="{B8133D18-DC8D-9DE8-47D3-4988150BC7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159" r="1557"/>
          <a:stretch>
            <a:fillRect/>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83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78FAB0-6EA0-3DD9-7668-1C345F17B428}"/>
              </a:ext>
            </a:extLst>
          </p:cNvPr>
          <p:cNvSpPr>
            <a:spLocks noGrp="1"/>
          </p:cNvSpPr>
          <p:nvPr>
            <p:ph type="title"/>
          </p:nvPr>
        </p:nvSpPr>
        <p:spPr>
          <a:xfrm>
            <a:off x="804672" y="802955"/>
            <a:ext cx="4766330" cy="1454051"/>
          </a:xfrm>
        </p:spPr>
        <p:txBody>
          <a:bodyPr>
            <a:normAutofit/>
          </a:bodyPr>
          <a:lstStyle/>
          <a:p>
            <a:r>
              <a:rPr lang="en-SG" sz="3600">
                <a:solidFill>
                  <a:schemeClr val="tx2"/>
                </a:solidFill>
              </a:rPr>
              <a:t>Invesco QQQ Trust </a:t>
            </a:r>
            <a:r>
              <a:rPr lang="en-US" sz="3600">
                <a:solidFill>
                  <a:schemeClr val="tx2"/>
                </a:solidFill>
              </a:rPr>
              <a:t>(QQQ)</a:t>
            </a:r>
            <a:endParaRPr lang="en-SG" sz="3600">
              <a:solidFill>
                <a:schemeClr val="tx2"/>
              </a:solidFill>
            </a:endParaRPr>
          </a:p>
        </p:txBody>
      </p:sp>
      <p:sp>
        <p:nvSpPr>
          <p:cNvPr id="3" name="Content Placeholder 2">
            <a:extLst>
              <a:ext uri="{FF2B5EF4-FFF2-40B4-BE49-F238E27FC236}">
                <a16:creationId xmlns:a16="http://schemas.microsoft.com/office/drawing/2014/main" id="{96404620-EF67-FCA4-832A-F57DF35184D5}"/>
              </a:ext>
            </a:extLst>
          </p:cNvPr>
          <p:cNvSpPr>
            <a:spLocks noGrp="1"/>
          </p:cNvSpPr>
          <p:nvPr>
            <p:ph idx="1"/>
          </p:nvPr>
        </p:nvSpPr>
        <p:spPr>
          <a:xfrm>
            <a:off x="804672" y="2421683"/>
            <a:ext cx="4765949" cy="3353476"/>
          </a:xfrm>
        </p:spPr>
        <p:txBody>
          <a:bodyPr anchor="t">
            <a:normAutofit/>
          </a:bodyPr>
          <a:lstStyle/>
          <a:p>
            <a:r>
              <a:rPr lang="en-US" sz="1800" dirty="0">
                <a:solidFill>
                  <a:schemeClr val="tx2"/>
                </a:solidFill>
              </a:rPr>
              <a:t>The Nasdaq-100 Index, which includes the 100 largest non-financial companies listed on Nasdaq. </a:t>
            </a:r>
          </a:p>
          <a:p>
            <a:r>
              <a:rPr lang="en-US" sz="1800" dirty="0">
                <a:solidFill>
                  <a:schemeClr val="tx2"/>
                </a:solidFill>
              </a:rPr>
              <a:t>Heavy exposure to tech giants like Apple, Microsoft, Amazon and Nvidia</a:t>
            </a:r>
          </a:p>
          <a:p>
            <a:r>
              <a:rPr lang="en-US" sz="1800" dirty="0">
                <a:solidFill>
                  <a:schemeClr val="tx2"/>
                </a:solidFill>
              </a:rPr>
              <a:t>QQQ is often used as </a:t>
            </a:r>
            <a:r>
              <a:rPr lang="en-US" sz="1800" b="1" dirty="0">
                <a:solidFill>
                  <a:schemeClr val="tx2"/>
                </a:solidFill>
              </a:rPr>
              <a:t>a proxy for the US tech sector performance</a:t>
            </a:r>
            <a:r>
              <a:rPr lang="en-US" sz="1800" dirty="0">
                <a:solidFill>
                  <a:schemeClr val="tx2"/>
                </a:solidFill>
              </a:rPr>
              <a:t>, making it a popular choice for </a:t>
            </a:r>
            <a:r>
              <a:rPr lang="en-US" sz="1800" b="1" dirty="0">
                <a:solidFill>
                  <a:schemeClr val="tx2"/>
                </a:solidFill>
              </a:rPr>
              <a:t>growth-oriented investors</a:t>
            </a:r>
          </a:p>
          <a:p>
            <a:r>
              <a:rPr lang="en-US" sz="1800" dirty="0">
                <a:solidFill>
                  <a:schemeClr val="tx2"/>
                </a:solidFill>
              </a:rPr>
              <a:t>Provides </a:t>
            </a:r>
            <a:r>
              <a:rPr lang="en-US" sz="1800" b="1" dirty="0">
                <a:solidFill>
                  <a:schemeClr val="tx2"/>
                </a:solidFill>
              </a:rPr>
              <a:t>diversification within tec</a:t>
            </a:r>
            <a:r>
              <a:rPr lang="en-US" sz="1800" dirty="0">
                <a:solidFill>
                  <a:schemeClr val="tx2"/>
                </a:solidFill>
              </a:rPr>
              <a:t>h, but is still concentrated in high-beta stocks, meaning it can swing sharply with market sentiment. </a:t>
            </a:r>
          </a:p>
          <a:p>
            <a:endParaRPr lang="en-US" sz="1800" dirty="0">
              <a:solidFill>
                <a:schemeClr val="tx2"/>
              </a:solidFill>
            </a:endParaRPr>
          </a:p>
          <a:p>
            <a:endParaRPr lang="en-SG" sz="1800" dirty="0">
              <a:solidFill>
                <a:schemeClr val="tx2"/>
              </a:solidFill>
            </a:endParaRPr>
          </a:p>
        </p:txBody>
      </p:sp>
      <p:grpSp>
        <p:nvGrpSpPr>
          <p:cNvPr id="2059" name="Group 2058">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060" name="Freeform: Shape 2059">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Freeform: Shape 2060">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Freeform: Shape 2061">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Freeform: Shape 2062">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50" name="Picture 2" descr="Invesco QQQ (QQQ) Statistics &amp; Alternative Data 2025">
            <a:extLst>
              <a:ext uri="{FF2B5EF4-FFF2-40B4-BE49-F238E27FC236}">
                <a16:creationId xmlns:a16="http://schemas.microsoft.com/office/drawing/2014/main" id="{2A59423E-DFBE-DFF2-CC86-621DE487E6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287" t="10558" r="16850" b="16184"/>
          <a:stretch>
            <a:fillRect/>
          </a:stretch>
        </p:blipFill>
        <p:spPr bwMode="auto">
          <a:xfrm>
            <a:off x="8424472" y="2257006"/>
            <a:ext cx="2728210" cy="3034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2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DBF50F6-DD88-4D9F-B7D3-79B989980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16BBDC2-6929-469E-B7C4-A03E77BF94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5FE9CDD-922E-389D-E076-16AB5A95603F}"/>
              </a:ext>
            </a:extLst>
          </p:cNvPr>
          <p:cNvSpPr txBox="1"/>
          <p:nvPr/>
        </p:nvSpPr>
        <p:spPr>
          <a:xfrm>
            <a:off x="197025" y="405028"/>
            <a:ext cx="10640754" cy="77584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chemeClr val="tx2"/>
                </a:solidFill>
                <a:latin typeface="+mj-lt"/>
                <a:ea typeface="+mj-ea"/>
                <a:cs typeface="+mj-cs"/>
              </a:rPr>
              <a:t>Monthly Return Heatmap</a:t>
            </a:r>
          </a:p>
        </p:txBody>
      </p:sp>
      <p:grpSp>
        <p:nvGrpSpPr>
          <p:cNvPr id="19" name="Group 18">
            <a:extLst>
              <a:ext uri="{FF2B5EF4-FFF2-40B4-BE49-F238E27FC236}">
                <a16:creationId xmlns:a16="http://schemas.microsoft.com/office/drawing/2014/main" id="{C344E6B5-C9F5-4338-9E33-003B123731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6402" y="170309"/>
            <a:ext cx="2514948" cy="2174333"/>
            <a:chOff x="-305" y="-4155"/>
            <a:chExt cx="2514948" cy="2174333"/>
          </a:xfrm>
        </p:grpSpPr>
        <p:sp>
          <p:nvSpPr>
            <p:cNvPr id="20" name="Freeform: Shape 19">
              <a:extLst>
                <a:ext uri="{FF2B5EF4-FFF2-40B4-BE49-F238E27FC236}">
                  <a16:creationId xmlns:a16="http://schemas.microsoft.com/office/drawing/2014/main" id="{C90B0F8D-9E81-4DE8-95D5-1A26E9390D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830BA43A-83E9-4C67-92A6-F247FB370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2F3A0CC-EBFE-405D-B0C0-27DE361ED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DF2E853E-B55A-4FFD-B90E-6FB4F31BD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FDFEDBF7-8E2C-46B8-9095-AE1D77E217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130554" y="4560733"/>
            <a:ext cx="3061445" cy="2297266"/>
            <a:chOff x="-305" y="-1"/>
            <a:chExt cx="3832880" cy="2876136"/>
          </a:xfrm>
        </p:grpSpPr>
        <p:sp>
          <p:nvSpPr>
            <p:cNvPr id="26" name="Freeform: Shape 25">
              <a:extLst>
                <a:ext uri="{FF2B5EF4-FFF2-40B4-BE49-F238E27FC236}">
                  <a16:creationId xmlns:a16="http://schemas.microsoft.com/office/drawing/2014/main" id="{60202872-FBB0-4F11-BC49-9FB400B212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EB2F40-D411-4D44-9638-AE0342C7F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507F7D91-A991-4196-AF73-327E04B562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178739A9-E67C-40E5-9468-0A68AEC54E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8C0151A8-10D7-E106-1E8E-0CAFD7F04EA9}"/>
              </a:ext>
            </a:extLst>
          </p:cNvPr>
          <p:cNvSpPr txBox="1"/>
          <p:nvPr/>
        </p:nvSpPr>
        <p:spPr>
          <a:xfrm>
            <a:off x="14478" y="5340734"/>
            <a:ext cx="11987021" cy="1477328"/>
          </a:xfrm>
          <a:prstGeom prst="rect">
            <a:avLst/>
          </a:prstGeom>
          <a:noFill/>
        </p:spPr>
        <p:txBody>
          <a:bodyPr wrap="square" rtlCol="0">
            <a:spAutoFit/>
          </a:bodyPr>
          <a:lstStyle/>
          <a:p>
            <a:pPr marL="285750" indent="-285750">
              <a:buFont typeface="Arial" panose="020B0604020202020204" pitchFamily="34" charset="0"/>
              <a:buChar char="•"/>
            </a:pPr>
            <a:r>
              <a:rPr lang="en-US" dirty="0"/>
              <a:t>Peak months are Jan (42.66%), May (45.54%)</a:t>
            </a:r>
          </a:p>
          <a:p>
            <a:pPr marL="285750" indent="-285750">
              <a:buFont typeface="Arial" panose="020B0604020202020204" pitchFamily="34" charset="0"/>
              <a:buChar char="•"/>
            </a:pPr>
            <a:r>
              <a:rPr lang="en-US" dirty="0"/>
              <a:t>Strong starts in 2023 (42.68%) and 2024 (31.96%) — could reflect new capital inflows or strategic positioning</a:t>
            </a:r>
          </a:p>
          <a:p>
            <a:pPr marL="285750" indent="-285750">
              <a:buFont typeface="Arial" panose="020B0604020202020204" pitchFamily="34" charset="0"/>
              <a:buChar char="•"/>
            </a:pPr>
            <a:r>
              <a:rPr lang="en-US" dirty="0"/>
              <a:t>May is exceptionally strong across all years, which may indicate an opportunity or </a:t>
            </a:r>
            <a:r>
              <a:rPr lang="en-US" dirty="0" err="1"/>
              <a:t>favourable</a:t>
            </a:r>
            <a:r>
              <a:rPr lang="en-US" dirty="0"/>
              <a:t> market cycle. </a:t>
            </a:r>
          </a:p>
          <a:p>
            <a:pPr marL="285750" indent="-285750">
              <a:buFont typeface="Arial" panose="020B0604020202020204" pitchFamily="34" charset="0"/>
              <a:buChar char="•"/>
            </a:pPr>
            <a:r>
              <a:rPr lang="en-SG" dirty="0"/>
              <a:t>2024 most consistent high returns, possibly due to favourable macro or effective hedging </a:t>
            </a:r>
          </a:p>
          <a:p>
            <a:pPr marL="285750" indent="-285750">
              <a:buFont typeface="Arial" panose="020B0604020202020204" pitchFamily="34" charset="0"/>
              <a:buChar char="•"/>
            </a:pPr>
            <a:endParaRPr lang="en-US" dirty="0"/>
          </a:p>
        </p:txBody>
      </p:sp>
      <p:grpSp>
        <p:nvGrpSpPr>
          <p:cNvPr id="7" name="Group 6">
            <a:extLst>
              <a:ext uri="{FF2B5EF4-FFF2-40B4-BE49-F238E27FC236}">
                <a16:creationId xmlns:a16="http://schemas.microsoft.com/office/drawing/2014/main" id="{2E16EDB9-71E4-448B-2C9C-2E5F433922AD}"/>
              </a:ext>
            </a:extLst>
          </p:cNvPr>
          <p:cNvGrpSpPr/>
          <p:nvPr/>
        </p:nvGrpSpPr>
        <p:grpSpPr>
          <a:xfrm>
            <a:off x="196720" y="1180873"/>
            <a:ext cx="9404175" cy="4065814"/>
            <a:chOff x="197025" y="1535579"/>
            <a:chExt cx="11833610" cy="4408021"/>
          </a:xfrm>
        </p:grpSpPr>
        <p:pic>
          <p:nvPicPr>
            <p:cNvPr id="4" name="Picture 3">
              <a:extLst>
                <a:ext uri="{FF2B5EF4-FFF2-40B4-BE49-F238E27FC236}">
                  <a16:creationId xmlns:a16="http://schemas.microsoft.com/office/drawing/2014/main" id="{8027609B-A38B-473C-CA85-0FD88D44BE73}"/>
                </a:ext>
              </a:extLst>
            </p:cNvPr>
            <p:cNvPicPr>
              <a:picLocks noChangeAspect="1"/>
            </p:cNvPicPr>
            <p:nvPr/>
          </p:nvPicPr>
          <p:blipFill>
            <a:blip r:embed="rId3"/>
            <a:stretch>
              <a:fillRect/>
            </a:stretch>
          </p:blipFill>
          <p:spPr>
            <a:xfrm>
              <a:off x="197025" y="1535579"/>
              <a:ext cx="11833610" cy="4408021"/>
            </a:xfrm>
            <a:prstGeom prst="rect">
              <a:avLst/>
            </a:prstGeom>
          </p:spPr>
        </p:pic>
        <p:sp>
          <p:nvSpPr>
            <p:cNvPr id="3" name="Oval 2">
              <a:extLst>
                <a:ext uri="{FF2B5EF4-FFF2-40B4-BE49-F238E27FC236}">
                  <a16:creationId xmlns:a16="http://schemas.microsoft.com/office/drawing/2014/main" id="{BB37B37D-0D19-DAA5-5E71-0929E46B1DAA}"/>
                </a:ext>
              </a:extLst>
            </p:cNvPr>
            <p:cNvSpPr/>
            <p:nvPr/>
          </p:nvSpPr>
          <p:spPr>
            <a:xfrm>
              <a:off x="4153567" y="2960604"/>
              <a:ext cx="967072" cy="936792"/>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Oval 5">
              <a:extLst>
                <a:ext uri="{FF2B5EF4-FFF2-40B4-BE49-F238E27FC236}">
                  <a16:creationId xmlns:a16="http://schemas.microsoft.com/office/drawing/2014/main" id="{7A61DE1B-2000-7D84-802C-48A5E4D45FEE}"/>
                </a:ext>
              </a:extLst>
            </p:cNvPr>
            <p:cNvSpPr/>
            <p:nvPr/>
          </p:nvSpPr>
          <p:spPr>
            <a:xfrm>
              <a:off x="6675558" y="4852527"/>
              <a:ext cx="967072" cy="936792"/>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3" name="TextBox 12">
            <a:extLst>
              <a:ext uri="{FF2B5EF4-FFF2-40B4-BE49-F238E27FC236}">
                <a16:creationId xmlns:a16="http://schemas.microsoft.com/office/drawing/2014/main" id="{34408B1B-E735-1E14-95B1-1D13DD531531}"/>
              </a:ext>
            </a:extLst>
          </p:cNvPr>
          <p:cNvSpPr txBox="1"/>
          <p:nvPr/>
        </p:nvSpPr>
        <p:spPr>
          <a:xfrm>
            <a:off x="8962525" y="2111164"/>
            <a:ext cx="2942823"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In May 2023, NVIDIA made several major announcements related to generative AI, data center products, and strategic partnerships, highlighted by the release of its blockbuster first-quarter fiscal 2024</a:t>
            </a:r>
            <a:endParaRPr lang="en-SG" dirty="0"/>
          </a:p>
        </p:txBody>
      </p:sp>
    </p:spTree>
    <p:extLst>
      <p:ext uri="{BB962C8B-B14F-4D97-AF65-F5344CB8AC3E}">
        <p14:creationId xmlns:p14="http://schemas.microsoft.com/office/powerpoint/2010/main" val="95992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DB8B5E8-3B4B-7E50-D990-6B9DA380D416}"/>
              </a:ext>
            </a:extLst>
          </p:cNvPr>
          <p:cNvPicPr>
            <a:picLocks noChangeAspect="1"/>
          </p:cNvPicPr>
          <p:nvPr/>
        </p:nvPicPr>
        <p:blipFill>
          <a:blip r:embed="rId3"/>
          <a:stretch>
            <a:fillRect/>
          </a:stretch>
        </p:blipFill>
        <p:spPr>
          <a:xfrm>
            <a:off x="824380" y="255827"/>
            <a:ext cx="10097019" cy="4692891"/>
          </a:xfrm>
          <a:prstGeom prst="rect">
            <a:avLst/>
          </a:prstGeom>
        </p:spPr>
      </p:pic>
      <p:sp>
        <p:nvSpPr>
          <p:cNvPr id="7" name="TextBox 6">
            <a:extLst>
              <a:ext uri="{FF2B5EF4-FFF2-40B4-BE49-F238E27FC236}">
                <a16:creationId xmlns:a16="http://schemas.microsoft.com/office/drawing/2014/main" id="{EED41DCB-1888-D876-12C4-D09282139ED0}"/>
              </a:ext>
            </a:extLst>
          </p:cNvPr>
          <p:cNvSpPr txBox="1"/>
          <p:nvPr/>
        </p:nvSpPr>
        <p:spPr>
          <a:xfrm>
            <a:off x="9588588" y="2290948"/>
            <a:ext cx="2157191" cy="13849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171450" indent="-171450">
              <a:buFont typeface="Arial" panose="020B0604020202020204" pitchFamily="34" charset="0"/>
              <a:buChar char="•"/>
            </a:pPr>
            <a:r>
              <a:rPr lang="en-US" sz="1200" dirty="0"/>
              <a:t>Centered around zero between -0.02 and +0.02, indicating it’s a normal distribution </a:t>
            </a:r>
          </a:p>
          <a:p>
            <a:pPr marL="171450" indent="-171450">
              <a:buFont typeface="Arial" panose="020B0604020202020204" pitchFamily="34" charset="0"/>
              <a:buChar char="•"/>
            </a:pPr>
            <a:r>
              <a:rPr lang="en-SG" sz="1200" dirty="0"/>
              <a:t>A peak near zero means that it experiences small daily changes </a:t>
            </a:r>
          </a:p>
        </p:txBody>
      </p:sp>
      <p:sp>
        <p:nvSpPr>
          <p:cNvPr id="9" name="TextBox 8">
            <a:extLst>
              <a:ext uri="{FF2B5EF4-FFF2-40B4-BE49-F238E27FC236}">
                <a16:creationId xmlns:a16="http://schemas.microsoft.com/office/drawing/2014/main" id="{86888F1E-C8D8-523A-90A4-136166100AAD}"/>
              </a:ext>
            </a:extLst>
          </p:cNvPr>
          <p:cNvSpPr txBox="1"/>
          <p:nvPr/>
        </p:nvSpPr>
        <p:spPr>
          <a:xfrm>
            <a:off x="4802662" y="788339"/>
            <a:ext cx="2586676" cy="13849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171450" indent="-171450">
              <a:buFont typeface="Arial" panose="020B0604020202020204" pitchFamily="34" charset="0"/>
              <a:buChar char="•"/>
            </a:pPr>
            <a:r>
              <a:rPr lang="en-US" sz="1200" dirty="0"/>
              <a:t>Jan is widespread with return, high variability </a:t>
            </a:r>
          </a:p>
          <a:p>
            <a:pPr marL="171450" indent="-171450">
              <a:buFont typeface="Arial" panose="020B0604020202020204" pitchFamily="34" charset="0"/>
              <a:buChar char="•"/>
            </a:pPr>
            <a:r>
              <a:rPr lang="en-US" sz="1200" dirty="0"/>
              <a:t>May consistently show strong performance with dense clusters of high positive returns</a:t>
            </a:r>
          </a:p>
          <a:p>
            <a:pPr marL="171450" indent="-171450">
              <a:buFont typeface="Arial" panose="020B0604020202020204" pitchFamily="34" charset="0"/>
              <a:buChar char="•"/>
            </a:pPr>
            <a:r>
              <a:rPr lang="en-SG" sz="1200" dirty="0"/>
              <a:t>June narrower spread lower median show weaker monthly returns</a:t>
            </a:r>
          </a:p>
        </p:txBody>
      </p:sp>
      <p:sp>
        <p:nvSpPr>
          <p:cNvPr id="11" name="TextBox 10">
            <a:extLst>
              <a:ext uri="{FF2B5EF4-FFF2-40B4-BE49-F238E27FC236}">
                <a16:creationId xmlns:a16="http://schemas.microsoft.com/office/drawing/2014/main" id="{EE66D3F2-FB43-39D4-6DEB-58A267F8AC2E}"/>
              </a:ext>
            </a:extLst>
          </p:cNvPr>
          <p:cNvSpPr txBox="1"/>
          <p:nvPr/>
        </p:nvSpPr>
        <p:spPr>
          <a:xfrm>
            <a:off x="14478" y="5340734"/>
            <a:ext cx="11987021"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t>May is a consistent outperformer </a:t>
            </a:r>
            <a:r>
              <a:rPr lang="en-US" dirty="0"/>
              <a:t>across both monthly and daily views </a:t>
            </a:r>
          </a:p>
          <a:p>
            <a:pPr marL="285750" indent="-285750">
              <a:buFont typeface="Arial" panose="020B0604020202020204" pitchFamily="34" charset="0"/>
              <a:buChar char="•"/>
            </a:pPr>
            <a:r>
              <a:rPr lang="en-US" b="1" dirty="0"/>
              <a:t>June shows lower volatility and weaker returns </a:t>
            </a:r>
          </a:p>
          <a:p>
            <a:pPr marL="285750" indent="-285750">
              <a:buFont typeface="Arial" panose="020B0604020202020204" pitchFamily="34" charset="0"/>
              <a:buChar char="•"/>
            </a:pPr>
            <a:r>
              <a:rPr lang="en-US" b="1" dirty="0"/>
              <a:t>Daily return distribution is stable</a:t>
            </a:r>
            <a:r>
              <a:rPr lang="en-US" dirty="0"/>
              <a:t>, but outliers in March, April, and November warrant deeper investigation </a:t>
            </a:r>
          </a:p>
          <a:p>
            <a:pPr marL="285750" indent="-285750">
              <a:buFont typeface="Arial" panose="020B0604020202020204" pitchFamily="34" charset="0"/>
              <a:buChar char="•"/>
            </a:pPr>
            <a:r>
              <a:rPr lang="en-US" b="1" dirty="0"/>
              <a:t>2025 shows a tighter clustering</a:t>
            </a:r>
            <a:r>
              <a:rPr lang="en-US" dirty="0"/>
              <a:t>, hinting at a more risk-managed or conservative strategy.</a:t>
            </a:r>
          </a:p>
        </p:txBody>
      </p:sp>
    </p:spTree>
    <p:extLst>
      <p:ext uri="{BB962C8B-B14F-4D97-AF65-F5344CB8AC3E}">
        <p14:creationId xmlns:p14="http://schemas.microsoft.com/office/powerpoint/2010/main" val="9599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C27948A-86E6-1785-98D8-00353D416A02}"/>
              </a:ext>
            </a:extLst>
          </p:cNvPr>
          <p:cNvPicPr>
            <a:picLocks noChangeAspect="1"/>
          </p:cNvPicPr>
          <p:nvPr/>
        </p:nvPicPr>
        <p:blipFill>
          <a:blip r:embed="rId2"/>
          <a:stretch>
            <a:fillRect/>
          </a:stretch>
        </p:blipFill>
        <p:spPr>
          <a:xfrm>
            <a:off x="511444" y="192798"/>
            <a:ext cx="10837484" cy="4958148"/>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8891C40-01E7-8788-73AA-BE27071DE2C9}"/>
              </a:ext>
            </a:extLst>
          </p:cNvPr>
          <p:cNvSpPr txBox="1"/>
          <p:nvPr/>
        </p:nvSpPr>
        <p:spPr>
          <a:xfrm>
            <a:off x="8258946" y="2970460"/>
            <a:ext cx="2586676"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171450" indent="-171450">
              <a:buFont typeface="Arial" panose="020B0604020202020204" pitchFamily="34" charset="0"/>
              <a:buChar char="•"/>
            </a:pPr>
            <a:r>
              <a:rPr lang="en-US" sz="1200" dirty="0"/>
              <a:t>While the average is high, the line dips below 0.9 multiple times, indicating temporary decoupling</a:t>
            </a:r>
          </a:p>
          <a:p>
            <a:pPr marL="171450" indent="-171450">
              <a:buFont typeface="Arial" panose="020B0604020202020204" pitchFamily="34" charset="0"/>
              <a:buChar char="•"/>
            </a:pPr>
            <a:r>
              <a:rPr lang="en-US" sz="1200" dirty="0"/>
              <a:t> Correlation oscillates between 0.6 and 1, with most values clustering above 0.9</a:t>
            </a:r>
            <a:endParaRPr lang="en-SG" sz="1200" dirty="0"/>
          </a:p>
        </p:txBody>
      </p:sp>
      <p:sp>
        <p:nvSpPr>
          <p:cNvPr id="6" name="TextBox 5">
            <a:extLst>
              <a:ext uri="{FF2B5EF4-FFF2-40B4-BE49-F238E27FC236}">
                <a16:creationId xmlns:a16="http://schemas.microsoft.com/office/drawing/2014/main" id="{FA50A97B-5E56-FD8B-9458-4F9BE337CEEA}"/>
              </a:ext>
            </a:extLst>
          </p:cNvPr>
          <p:cNvSpPr txBox="1"/>
          <p:nvPr/>
        </p:nvSpPr>
        <p:spPr>
          <a:xfrm>
            <a:off x="2191883" y="1286877"/>
            <a:ext cx="2586676" cy="70788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171450" indent="-171450">
              <a:buFont typeface="Arial" panose="020B0604020202020204" pitchFamily="34" charset="0"/>
              <a:buChar char="•"/>
            </a:pPr>
            <a:r>
              <a:rPr lang="en-US" sz="1000" dirty="0"/>
              <a:t>2022 slightly lower correlation in Jan-Jun suggesting mild divergence early on</a:t>
            </a:r>
          </a:p>
          <a:p>
            <a:pPr marL="171450" indent="-171450">
              <a:buFont typeface="Arial" panose="020B0604020202020204" pitchFamily="34" charset="0"/>
              <a:buChar char="•"/>
            </a:pPr>
            <a:r>
              <a:rPr lang="en-SG" sz="1000" dirty="0"/>
              <a:t>2023-2026 shows uniformly high correlation </a:t>
            </a:r>
          </a:p>
        </p:txBody>
      </p:sp>
      <p:sp>
        <p:nvSpPr>
          <p:cNvPr id="8" name="Rectangle 2">
            <a:extLst>
              <a:ext uri="{FF2B5EF4-FFF2-40B4-BE49-F238E27FC236}">
                <a16:creationId xmlns:a16="http://schemas.microsoft.com/office/drawing/2014/main" id="{ACEBB134-AABE-230D-07D0-125167EA664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Correlation oscillates between </a:t>
            </a:r>
            <a:r>
              <a:rPr kumimoji="0" lang="en-US" altLang="en-US" sz="1800" b="1" i="0" u="none" strike="noStrike" cap="none" normalizeH="0" baseline="0" dirty="0">
                <a:ln>
                  <a:noFill/>
                </a:ln>
                <a:solidFill>
                  <a:schemeClr val="tx1"/>
                </a:solidFill>
                <a:effectLst/>
                <a:latin typeface="Arial" panose="020B0604020202020204" pitchFamily="34" charset="0"/>
              </a:rPr>
              <a:t>0.6 and 1.0</a:t>
            </a:r>
            <a:r>
              <a:rPr kumimoji="0" lang="en-US" altLang="en-US" sz="1800" b="0" i="0" u="none" strike="noStrike" cap="none" normalizeH="0" baseline="0" dirty="0">
                <a:ln>
                  <a:noFill/>
                </a:ln>
                <a:solidFill>
                  <a:schemeClr val="tx1"/>
                </a:solidFill>
                <a:effectLst/>
                <a:latin typeface="Arial" panose="020B0604020202020204" pitchFamily="34" charset="0"/>
              </a:rPr>
              <a:t>, with most values clustering above </a:t>
            </a:r>
            <a:r>
              <a:rPr kumimoji="0" lang="en-US" altLang="en-US" sz="1800" b="1" i="0" u="none" strike="noStrike" cap="none" normalizeH="0" baseline="0" dirty="0">
                <a:ln>
                  <a:noFill/>
                </a:ln>
                <a:solidFill>
                  <a:schemeClr val="tx1"/>
                </a:solidFill>
                <a:effectLst/>
                <a:latin typeface="Arial" panose="020B0604020202020204" pitchFamily="34" charset="0"/>
              </a:rPr>
              <a:t>0.9</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AB5229E0-C35A-C8FC-D646-D535EB1C41B0}"/>
              </a:ext>
            </a:extLst>
          </p:cNvPr>
          <p:cNvSpPr txBox="1"/>
          <p:nvPr/>
        </p:nvSpPr>
        <p:spPr>
          <a:xfrm>
            <a:off x="14478" y="5079475"/>
            <a:ext cx="11987021"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t>Rolling 90-day correlation fluctuates between approximately 0.65 and 1.00 over the past three years.</a:t>
            </a:r>
          </a:p>
          <a:p>
            <a:pPr marL="285750" indent="-285750">
              <a:buFont typeface="Arial" panose="020B0604020202020204" pitchFamily="34" charset="0"/>
              <a:buChar char="•"/>
            </a:pPr>
            <a:r>
              <a:rPr lang="en-US" b="1" dirty="0"/>
              <a:t>Use static hedging when the regime is stable and correlation is reliably high. </a:t>
            </a:r>
          </a:p>
          <a:p>
            <a:pPr marL="285750" indent="-285750">
              <a:buFont typeface="Arial" panose="020B0604020202020204" pitchFamily="34" charset="0"/>
              <a:buChar char="•"/>
            </a:pPr>
            <a:r>
              <a:rPr lang="en-US" b="1" dirty="0"/>
              <a:t>Switch to dynamic hedging if dashboard and rolling beta indicate regime drift, lower correlation, or increased market shocks.</a:t>
            </a:r>
          </a:p>
          <a:p>
            <a:pPr marL="285750" indent="-285750">
              <a:buFont typeface="Arial" panose="020B0604020202020204" pitchFamily="34" charset="0"/>
              <a:buChar char="•"/>
            </a:pPr>
            <a:r>
              <a:rPr lang="en-US" b="1" dirty="0"/>
              <a:t>Monitor sustained deviation from the average correlation closely; long downward trends call for a reevaluation of hedge instrument selection.</a:t>
            </a:r>
          </a:p>
        </p:txBody>
      </p:sp>
    </p:spTree>
    <p:extLst>
      <p:ext uri="{BB962C8B-B14F-4D97-AF65-F5344CB8AC3E}">
        <p14:creationId xmlns:p14="http://schemas.microsoft.com/office/powerpoint/2010/main" val="95992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 of different colored lines&#10;&#10;AI-generated content may be incorrect.">
            <a:extLst>
              <a:ext uri="{FF2B5EF4-FFF2-40B4-BE49-F238E27FC236}">
                <a16:creationId xmlns:a16="http://schemas.microsoft.com/office/drawing/2014/main" id="{83AF5FA8-71F8-040C-7D7C-FA93E5986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662" y="184781"/>
            <a:ext cx="8684767" cy="6384734"/>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BAB5461-E830-5DFD-C271-FA83F5A8270D}"/>
              </a:ext>
            </a:extLst>
          </p:cNvPr>
          <p:cNvSpPr txBox="1"/>
          <p:nvPr/>
        </p:nvSpPr>
        <p:spPr>
          <a:xfrm>
            <a:off x="7801221" y="1217341"/>
            <a:ext cx="2973100"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1600" b="1" dirty="0">
                <a:solidFill>
                  <a:schemeClr val="tx1"/>
                </a:solidFill>
                <a:latin typeface="Arial" panose="020B0604020202020204" pitchFamily="34" charset="0"/>
              </a:rPr>
              <a:t>Unhedged vs Static Hedge:</a:t>
            </a:r>
            <a:r>
              <a:rPr lang="en-US" altLang="en-US" sz="1600" dirty="0">
                <a:solidFill>
                  <a:schemeClr val="tx1"/>
                </a:solidFill>
                <a:latin typeface="Arial" panose="020B0604020202020204" pitchFamily="34" charset="0"/>
              </a:rPr>
              <a:t> ~75-point gap. </a:t>
            </a:r>
          </a:p>
          <a:p>
            <a:pPr marL="285750" lvl="0" indent="-285750" eaLnBrk="0" fontAlgn="base" hangingPunct="0">
              <a:spcBef>
                <a:spcPct val="0"/>
              </a:spcBef>
              <a:spcAft>
                <a:spcPct val="0"/>
              </a:spcAft>
              <a:buFont typeface="Arial" panose="020B0604020202020204" pitchFamily="34" charset="0"/>
              <a:buChar char="•"/>
            </a:pPr>
            <a:r>
              <a:rPr lang="en-US" altLang="en-US" sz="1600" b="1" dirty="0">
                <a:solidFill>
                  <a:schemeClr val="tx1"/>
                </a:solidFill>
                <a:latin typeface="Arial" panose="020B0604020202020204" pitchFamily="34" charset="0"/>
              </a:rPr>
              <a:t>Unhedged vs Dynamic Hedge:</a:t>
            </a:r>
            <a:r>
              <a:rPr lang="en-US" altLang="en-US" sz="1600" dirty="0">
                <a:solidFill>
                  <a:schemeClr val="tx1"/>
                </a:solidFill>
                <a:latin typeface="Arial" panose="020B0604020202020204" pitchFamily="34" charset="0"/>
              </a:rPr>
              <a:t> ~100-point gap. </a:t>
            </a:r>
          </a:p>
          <a:p>
            <a:pPr marL="285750" lvl="0" indent="-285750" eaLnBrk="0" fontAlgn="base" hangingPunct="0">
              <a:spcBef>
                <a:spcPct val="0"/>
              </a:spcBef>
              <a:spcAft>
                <a:spcPct val="0"/>
              </a:spcAft>
              <a:buFont typeface="Arial" panose="020B0604020202020204" pitchFamily="34" charset="0"/>
              <a:buChar char="•"/>
            </a:pPr>
            <a:r>
              <a:rPr lang="en-US" altLang="en-US" sz="1600" b="1" dirty="0">
                <a:solidFill>
                  <a:schemeClr val="tx1"/>
                </a:solidFill>
                <a:latin typeface="Arial" panose="020B0604020202020204" pitchFamily="34" charset="0"/>
              </a:rPr>
              <a:t>Static vs Dynamic Hedge:</a:t>
            </a:r>
            <a:r>
              <a:rPr lang="en-US" altLang="en-US" sz="1600" dirty="0">
                <a:solidFill>
                  <a:schemeClr val="tx1"/>
                </a:solidFill>
                <a:latin typeface="Arial" panose="020B0604020202020204" pitchFamily="34" charset="0"/>
              </a:rPr>
              <a:t> ~25-point gap. </a:t>
            </a:r>
          </a:p>
        </p:txBody>
      </p:sp>
      <p:sp>
        <p:nvSpPr>
          <p:cNvPr id="4" name="Rectangle 1">
            <a:extLst>
              <a:ext uri="{FF2B5EF4-FFF2-40B4-BE49-F238E27FC236}">
                <a16:creationId xmlns:a16="http://schemas.microsoft.com/office/drawing/2014/main" id="{E8F2FDC9-A151-948E-4A5E-7640208546D0}"/>
              </a:ext>
            </a:extLst>
          </p:cNvPr>
          <p:cNvSpPr>
            <a:spLocks noChangeArrowheads="1"/>
          </p:cNvSpPr>
          <p:nvPr/>
        </p:nvSpPr>
        <p:spPr bwMode="auto">
          <a:xfrm>
            <a:off x="1670670" y="342883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D9F87882-FC40-1CA1-74F0-A77F0A421C39}"/>
              </a:ext>
            </a:extLst>
          </p:cNvPr>
          <p:cNvSpPr txBox="1"/>
          <p:nvPr/>
        </p:nvSpPr>
        <p:spPr>
          <a:xfrm>
            <a:off x="7479011" y="3084358"/>
            <a:ext cx="4539342"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t>Unhedged strategy leads in performance but may suffer in downturns. Dynamic hedge trails but likely cushions drawdowns.</a:t>
            </a:r>
          </a:p>
          <a:p>
            <a:pPr marL="285750" indent="-285750">
              <a:buFont typeface="Arial" panose="020B0604020202020204" pitchFamily="34" charset="0"/>
              <a:buChar char="•"/>
            </a:pPr>
            <a:r>
              <a:rPr lang="en-US" b="1" dirty="0"/>
              <a:t>Static Hedge as a balanced option delivers moderate growth with some protection, ideal for medium-risk</a:t>
            </a:r>
          </a:p>
          <a:p>
            <a:pPr marL="285750" indent="-285750">
              <a:buFont typeface="Arial" panose="020B0604020202020204" pitchFamily="34" charset="0"/>
              <a:buChar char="•"/>
            </a:pPr>
            <a:r>
              <a:rPr lang="en-US" b="1" dirty="0"/>
              <a:t>In bullish conditions, hedged strategies usually underperform, so their value emerges during volatility or correlations. </a:t>
            </a:r>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95992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7B44725-E7F4-2CE8-382B-6A07F780C616}"/>
              </a:ext>
            </a:extLst>
          </p:cNvPr>
          <p:cNvPicPr>
            <a:picLocks noChangeAspect="1"/>
          </p:cNvPicPr>
          <p:nvPr/>
        </p:nvPicPr>
        <p:blipFill>
          <a:blip r:embed="rId2"/>
          <a:stretch>
            <a:fillRect/>
          </a:stretch>
        </p:blipFill>
        <p:spPr>
          <a:xfrm>
            <a:off x="99904" y="284571"/>
            <a:ext cx="12092096" cy="4383382"/>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920BD4B-7453-9B7F-0A22-3F09723F21FF}"/>
              </a:ext>
            </a:extLst>
          </p:cNvPr>
          <p:cNvSpPr txBox="1"/>
          <p:nvPr/>
        </p:nvSpPr>
        <p:spPr>
          <a:xfrm>
            <a:off x="2067859" y="2789509"/>
            <a:ext cx="7288784"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1200" b="1" dirty="0">
                <a:solidFill>
                  <a:schemeClr val="tx1"/>
                </a:solidFill>
                <a:latin typeface="Arial" panose="020B0604020202020204" pitchFamily="34" charset="0"/>
              </a:rPr>
              <a:t>Beta oscillates between 0.6 and 2.5, showing a significant shift in portfolio </a:t>
            </a:r>
            <a:r>
              <a:rPr lang="en-US" altLang="en-US" sz="1200" b="1" dirty="0" err="1">
                <a:solidFill>
                  <a:schemeClr val="tx1"/>
                </a:solidFill>
                <a:latin typeface="Arial" panose="020B0604020202020204" pitchFamily="34" charset="0"/>
              </a:rPr>
              <a:t>behaviour</a:t>
            </a:r>
            <a:r>
              <a:rPr lang="en-US" altLang="en-US" sz="1200" b="1" dirty="0">
                <a:solidFill>
                  <a:schemeClr val="tx1"/>
                </a:solidFill>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lang="en-US" altLang="en-US" sz="1200" b="1" dirty="0">
                <a:solidFill>
                  <a:schemeClr val="tx1"/>
                </a:solidFill>
                <a:latin typeface="Arial" panose="020B0604020202020204" pitchFamily="34" charset="0"/>
              </a:rPr>
              <a:t>Most of the graph lies in the high beta zone, shaded red, which indicates elevated market sensitivity.</a:t>
            </a:r>
          </a:p>
          <a:p>
            <a:pPr marL="285750" lvl="0" indent="-285750" eaLnBrk="0" fontAlgn="base" hangingPunct="0">
              <a:spcBef>
                <a:spcPct val="0"/>
              </a:spcBef>
              <a:spcAft>
                <a:spcPct val="0"/>
              </a:spcAft>
              <a:buFont typeface="Arial" panose="020B0604020202020204" pitchFamily="34" charset="0"/>
              <a:buChar char="•"/>
            </a:pPr>
            <a:r>
              <a:rPr lang="en-US" altLang="en-US" sz="1200" b="1" dirty="0">
                <a:solidFill>
                  <a:schemeClr val="tx1"/>
                </a:solidFill>
                <a:latin typeface="Arial" panose="020B0604020202020204" pitchFamily="34" charset="0"/>
              </a:rPr>
              <a:t>Peaks above 2.0 show periods of aggressive exposure or amplified volatility.</a:t>
            </a:r>
            <a:endParaRPr lang="en-US" altLang="en-US" sz="1200" dirty="0">
              <a:solidFill>
                <a:schemeClr val="tx1"/>
              </a:solidFill>
              <a:latin typeface="Arial" panose="020B0604020202020204" pitchFamily="34" charset="0"/>
            </a:endParaRPr>
          </a:p>
        </p:txBody>
      </p:sp>
      <p:sp>
        <p:nvSpPr>
          <p:cNvPr id="6" name="TextBox 5">
            <a:extLst>
              <a:ext uri="{FF2B5EF4-FFF2-40B4-BE49-F238E27FC236}">
                <a16:creationId xmlns:a16="http://schemas.microsoft.com/office/drawing/2014/main" id="{F169B9F7-CC38-CD34-4194-F098A4D0637C}"/>
              </a:ext>
            </a:extLst>
          </p:cNvPr>
          <p:cNvSpPr txBox="1"/>
          <p:nvPr/>
        </p:nvSpPr>
        <p:spPr>
          <a:xfrm>
            <a:off x="99904" y="4896141"/>
            <a:ext cx="11675453"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t>High beta periods require tighter risk controls or hedging to avoid drawdowns</a:t>
            </a:r>
          </a:p>
          <a:p>
            <a:pPr marL="285750" indent="-285750">
              <a:buFont typeface="Arial" panose="020B0604020202020204" pitchFamily="34" charset="0"/>
              <a:buChar char="•"/>
            </a:pPr>
            <a:r>
              <a:rPr lang="en-US" b="1" dirty="0"/>
              <a:t>Can consider dynamic hedging to modulate beta exposure based on market signals</a:t>
            </a:r>
          </a:p>
          <a:p>
            <a:pPr marL="285750" indent="-285750">
              <a:buFont typeface="Arial" panose="020B0604020202020204" pitchFamily="34" charset="0"/>
              <a:buChar char="•"/>
            </a:pPr>
            <a:r>
              <a:rPr lang="en-US" b="1" dirty="0"/>
              <a:t>Drops in beta suggest periods where Nvidia starts decoupling or stabilizing relative to QQQ, making static hedging less efficient and dynamic hedging optimal.</a:t>
            </a:r>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9599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73F48A5-D34D-28B8-6EC1-0D6F7F1F2D53}"/>
              </a:ext>
            </a:extLst>
          </p:cNvPr>
          <p:cNvPicPr>
            <a:picLocks noChangeAspect="1"/>
          </p:cNvPicPr>
          <p:nvPr/>
        </p:nvPicPr>
        <p:blipFill>
          <a:blip r:embed="rId2"/>
          <a:stretch>
            <a:fillRect/>
          </a:stretch>
        </p:blipFill>
        <p:spPr>
          <a:xfrm>
            <a:off x="156881" y="328118"/>
            <a:ext cx="11878237" cy="4484032"/>
          </a:xfrm>
          <a:prstGeom prst="rect">
            <a:avLst/>
          </a:prstGeom>
          <a:ln>
            <a:noFill/>
          </a:ln>
        </p:spPr>
      </p:pic>
      <p:sp>
        <p:nvSpPr>
          <p:cNvPr id="2" name="TextBox 1">
            <a:extLst>
              <a:ext uri="{FF2B5EF4-FFF2-40B4-BE49-F238E27FC236}">
                <a16:creationId xmlns:a16="http://schemas.microsoft.com/office/drawing/2014/main" id="{E7E4DC23-C6E0-ACF6-51AD-0B72DA5C5A3A}"/>
              </a:ext>
            </a:extLst>
          </p:cNvPr>
          <p:cNvSpPr txBox="1"/>
          <p:nvPr/>
        </p:nvSpPr>
        <p:spPr>
          <a:xfrm>
            <a:off x="99904" y="4896141"/>
            <a:ext cx="11675453"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Dynamic hedge wins on volatility control for capital preservation </a:t>
            </a:r>
          </a:p>
          <a:p>
            <a:pPr marL="285750" indent="-285750">
              <a:buFont typeface="Arial" panose="020B0604020202020204" pitchFamily="34" charset="0"/>
              <a:buChar char="•"/>
            </a:pPr>
            <a:r>
              <a:rPr lang="en-US" b="1" dirty="0"/>
              <a:t>Static hedge offers the middle ground, which is better than no hedge but less responsive than dynamic strategies</a:t>
            </a:r>
          </a:p>
          <a:p>
            <a:pPr marL="285750" indent="-285750">
              <a:buFont typeface="Arial" panose="020B0604020202020204" pitchFamily="34" charset="0"/>
              <a:buChar char="•"/>
            </a:pPr>
            <a:r>
              <a:rPr lang="en-US" b="1" dirty="0"/>
              <a:t>Unhedged strategy carries the highest risk. Suitable only when aggressive growth outweighs drawdown concerns. </a:t>
            </a:r>
          </a:p>
        </p:txBody>
      </p:sp>
    </p:spTree>
    <p:extLst>
      <p:ext uri="{BB962C8B-B14F-4D97-AF65-F5344CB8AC3E}">
        <p14:creationId xmlns:p14="http://schemas.microsoft.com/office/powerpoint/2010/main" val="9599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E7BC6E7-2947-AF82-DAF1-048AA94DBD9B}"/>
              </a:ext>
            </a:extLst>
          </p:cNvPr>
          <p:cNvSpPr txBox="1"/>
          <p:nvPr/>
        </p:nvSpPr>
        <p:spPr>
          <a:xfrm>
            <a:off x="638881" y="417576"/>
            <a:ext cx="10909640" cy="1249394"/>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6600" kern="1200">
                <a:solidFill>
                  <a:schemeClr val="tx1"/>
                </a:solidFill>
                <a:latin typeface="+mj-lt"/>
                <a:ea typeface="+mj-ea"/>
                <a:cs typeface="+mj-cs"/>
              </a:rPr>
              <a:t>KPI</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767D53B-1A5D-4992-B9D2-416490867EB0}"/>
              </a:ext>
            </a:extLst>
          </p:cNvPr>
          <p:cNvPicPr>
            <a:picLocks noChangeAspect="1"/>
          </p:cNvPicPr>
          <p:nvPr/>
        </p:nvPicPr>
        <p:blipFill>
          <a:blip r:embed="rId3"/>
          <a:stretch>
            <a:fillRect/>
          </a:stretch>
        </p:blipFill>
        <p:spPr>
          <a:xfrm>
            <a:off x="585597" y="2366772"/>
            <a:ext cx="10962924" cy="3946652"/>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with a line&#10;&#10;AI-generated content may be incorrect.">
            <a:extLst>
              <a:ext uri="{FF2B5EF4-FFF2-40B4-BE49-F238E27FC236}">
                <a16:creationId xmlns:a16="http://schemas.microsoft.com/office/drawing/2014/main" id="{1E1D6C92-D382-7692-6E97-719BACD6102E}"/>
              </a:ext>
            </a:extLst>
          </p:cNvPr>
          <p:cNvPicPr>
            <a:picLocks noChangeAspect="1"/>
          </p:cNvPicPr>
          <p:nvPr/>
        </p:nvPicPr>
        <p:blipFill>
          <a:blip r:embed="rId2"/>
          <a:stretch>
            <a:fillRect/>
          </a:stretch>
        </p:blipFill>
        <p:spPr>
          <a:xfrm>
            <a:off x="643467" y="240712"/>
            <a:ext cx="10905066" cy="517990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87490A1-959C-41DF-CF7E-8FEB2D48C734}"/>
              </a:ext>
            </a:extLst>
          </p:cNvPr>
          <p:cNvSpPr/>
          <p:nvPr/>
        </p:nvSpPr>
        <p:spPr>
          <a:xfrm>
            <a:off x="9026859" y="1968372"/>
            <a:ext cx="659567" cy="62958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D7EE5002-3E93-A177-B0B2-D4CFCF050F30}"/>
              </a:ext>
            </a:extLst>
          </p:cNvPr>
          <p:cNvSpPr txBox="1"/>
          <p:nvPr/>
        </p:nvSpPr>
        <p:spPr>
          <a:xfrm>
            <a:off x="1953826" y="998876"/>
            <a:ext cx="3832059" cy="1938992"/>
          </a:xfrm>
          <a:prstGeom prst="rect">
            <a:avLst/>
          </a:prstGeom>
          <a:noFill/>
        </p:spPr>
        <p:txBody>
          <a:bodyPr wrap="square">
            <a:spAutoFit/>
          </a:bodyPr>
          <a:lstStyle/>
          <a:p>
            <a:pPr marL="285750" indent="-285750">
              <a:buFont typeface="Arial" panose="020B0604020202020204" pitchFamily="34" charset="0"/>
              <a:buChar char="•"/>
            </a:pPr>
            <a:r>
              <a:rPr lang="en-US" sz="1200" dirty="0"/>
              <a:t>Gradual upward movement toward 0, with intermittent volatility.</a:t>
            </a:r>
          </a:p>
          <a:p>
            <a:pPr marL="285750" indent="-285750">
              <a:buFont typeface="Arial" panose="020B0604020202020204" pitchFamily="34" charset="0"/>
              <a:buChar char="•"/>
            </a:pPr>
            <a:r>
              <a:rPr lang="en-US" sz="1200" dirty="0"/>
              <a:t>Several dips suggest recurring stress windows, though none as deep as the initial drawdown.</a:t>
            </a:r>
          </a:p>
          <a:p>
            <a:pPr marL="285750" indent="-285750">
              <a:buFont typeface="Arial" panose="020B0604020202020204" pitchFamily="34" charset="0"/>
              <a:buChar char="•"/>
            </a:pPr>
            <a:r>
              <a:rPr lang="en-US" sz="1200" dirty="0"/>
              <a:t>Approaches 0, indicating full recovery or new equity highs.  Portfolio resilience improves over time due to </a:t>
            </a:r>
            <a:r>
              <a:rPr lang="en-US" sz="1200" dirty="0" err="1"/>
              <a:t>favourable</a:t>
            </a:r>
            <a:r>
              <a:rPr lang="en-US" sz="1200" dirty="0"/>
              <a:t> market conditions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SG" sz="1200" dirty="0"/>
          </a:p>
        </p:txBody>
      </p:sp>
    </p:spTree>
    <p:extLst>
      <p:ext uri="{BB962C8B-B14F-4D97-AF65-F5344CB8AC3E}">
        <p14:creationId xmlns:p14="http://schemas.microsoft.com/office/powerpoint/2010/main" val="567278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3" name="Freeform: Shape 12">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A954FAF-E7C7-F7AF-E60E-2C5FE49014A9}"/>
              </a:ext>
            </a:extLst>
          </p:cNvPr>
          <p:cNvPicPr>
            <a:picLocks noGrp="1" noChangeAspect="1"/>
          </p:cNvPicPr>
          <p:nvPr>
            <p:ph idx="1"/>
          </p:nvPr>
        </p:nvPicPr>
        <p:blipFill>
          <a:blip r:embed="rId2"/>
          <a:stretch>
            <a:fillRect/>
          </a:stretch>
        </p:blipFill>
        <p:spPr>
          <a:xfrm>
            <a:off x="97455" y="143004"/>
            <a:ext cx="11805508" cy="5532775"/>
          </a:xfrm>
          <a:prstGeom prst="rect">
            <a:avLst/>
          </a:prstGeom>
          <a:ln>
            <a:noFill/>
          </a:ln>
        </p:spPr>
      </p:pic>
      <p:sp>
        <p:nvSpPr>
          <p:cNvPr id="6" name="TextBox 5">
            <a:extLst>
              <a:ext uri="{FF2B5EF4-FFF2-40B4-BE49-F238E27FC236}">
                <a16:creationId xmlns:a16="http://schemas.microsoft.com/office/drawing/2014/main" id="{5BC1B53B-9DE9-82E3-A883-A1663C687979}"/>
              </a:ext>
            </a:extLst>
          </p:cNvPr>
          <p:cNvSpPr txBox="1"/>
          <p:nvPr/>
        </p:nvSpPr>
        <p:spPr>
          <a:xfrm>
            <a:off x="6096000" y="2199284"/>
            <a:ext cx="2520470"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1200" dirty="0">
                <a:solidFill>
                  <a:schemeClr val="tx1"/>
                </a:solidFill>
                <a:latin typeface="Arial" panose="020B0604020202020204" pitchFamily="34" charset="0"/>
              </a:rPr>
              <a:t>Portfolio shows erratic movements, sensitive to the market </a:t>
            </a:r>
          </a:p>
          <a:p>
            <a:pPr marL="285750" lvl="0" indent="-285750" eaLnBrk="0" fontAlgn="base" hangingPunct="0">
              <a:spcBef>
                <a:spcPct val="0"/>
              </a:spcBef>
              <a:spcAft>
                <a:spcPct val="0"/>
              </a:spcAft>
              <a:buFont typeface="Arial" panose="020B0604020202020204" pitchFamily="34" charset="0"/>
              <a:buChar char="•"/>
            </a:pPr>
            <a:r>
              <a:rPr lang="en-US" altLang="en-US" sz="1200" dirty="0">
                <a:solidFill>
                  <a:schemeClr val="tx1"/>
                </a:solidFill>
                <a:latin typeface="Arial" panose="020B0604020202020204" pitchFamily="34" charset="0"/>
              </a:rPr>
              <a:t>Static Hedge shoes smoother trajectory but still reactive </a:t>
            </a:r>
          </a:p>
          <a:p>
            <a:pPr marL="285750" lvl="0" indent="-285750" eaLnBrk="0" fontAlgn="base" hangingPunct="0">
              <a:spcBef>
                <a:spcPct val="0"/>
              </a:spcBef>
              <a:spcAft>
                <a:spcPct val="0"/>
              </a:spcAft>
              <a:buFont typeface="Arial" panose="020B0604020202020204" pitchFamily="34" charset="0"/>
              <a:buChar char="•"/>
            </a:pPr>
            <a:r>
              <a:rPr lang="en-US" altLang="en-US" sz="1200" dirty="0">
                <a:solidFill>
                  <a:schemeClr val="tx1"/>
                </a:solidFill>
                <a:latin typeface="Arial" panose="020B0604020202020204" pitchFamily="34" charset="0"/>
              </a:rPr>
              <a:t>Dynamic hedge is most stable, with minimal fluctuations </a:t>
            </a:r>
          </a:p>
        </p:txBody>
      </p:sp>
      <p:sp>
        <p:nvSpPr>
          <p:cNvPr id="7" name="TextBox 6">
            <a:extLst>
              <a:ext uri="{FF2B5EF4-FFF2-40B4-BE49-F238E27FC236}">
                <a16:creationId xmlns:a16="http://schemas.microsoft.com/office/drawing/2014/main" id="{169CE389-C7AF-CB0B-93F2-8DD85B0973F4}"/>
              </a:ext>
            </a:extLst>
          </p:cNvPr>
          <p:cNvSpPr txBox="1"/>
          <p:nvPr/>
        </p:nvSpPr>
        <p:spPr>
          <a:xfrm>
            <a:off x="1799645" y="2199284"/>
            <a:ext cx="2520470"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1200" dirty="0">
                <a:solidFill>
                  <a:schemeClr val="tx1"/>
                </a:solidFill>
                <a:latin typeface="Arial" panose="020B0604020202020204" pitchFamily="34" charset="0"/>
              </a:rPr>
              <a:t>Portfolio is the most volatile, sharpest decline in value</a:t>
            </a:r>
          </a:p>
          <a:p>
            <a:pPr marL="285750" lvl="0" indent="-285750" eaLnBrk="0" fontAlgn="base" hangingPunct="0">
              <a:spcBef>
                <a:spcPct val="0"/>
              </a:spcBef>
              <a:spcAft>
                <a:spcPct val="0"/>
              </a:spcAft>
              <a:buFont typeface="Arial" panose="020B0604020202020204" pitchFamily="34" charset="0"/>
              <a:buChar char="•"/>
            </a:pPr>
            <a:r>
              <a:rPr lang="en-US" altLang="en-US" sz="1200" dirty="0">
                <a:solidFill>
                  <a:schemeClr val="tx1"/>
                </a:solidFill>
                <a:latin typeface="Arial" panose="020B0604020202020204" pitchFamily="34" charset="0"/>
              </a:rPr>
              <a:t>Static Hedge is moderately cushioned but still reactive to market stress</a:t>
            </a:r>
          </a:p>
          <a:p>
            <a:pPr marL="285750" lvl="0" indent="-285750" eaLnBrk="0" fontAlgn="base" hangingPunct="0">
              <a:spcBef>
                <a:spcPct val="0"/>
              </a:spcBef>
              <a:spcAft>
                <a:spcPct val="0"/>
              </a:spcAft>
              <a:buFont typeface="Arial" panose="020B0604020202020204" pitchFamily="34" charset="0"/>
              <a:buChar char="•"/>
            </a:pPr>
            <a:r>
              <a:rPr lang="en-US" altLang="en-US" sz="1200" dirty="0">
                <a:solidFill>
                  <a:schemeClr val="tx1"/>
                </a:solidFill>
                <a:latin typeface="Arial" panose="020B0604020202020204" pitchFamily="34" charset="0"/>
              </a:rPr>
              <a:t>Dynamic hedge is the least affected which shows resilience and quicker stabilization</a:t>
            </a:r>
          </a:p>
        </p:txBody>
      </p:sp>
      <p:sp>
        <p:nvSpPr>
          <p:cNvPr id="8" name="TextBox 7">
            <a:extLst>
              <a:ext uri="{FF2B5EF4-FFF2-40B4-BE49-F238E27FC236}">
                <a16:creationId xmlns:a16="http://schemas.microsoft.com/office/drawing/2014/main" id="{EF99385A-BAC6-D7BB-BC52-85069BDF8514}"/>
              </a:ext>
            </a:extLst>
          </p:cNvPr>
          <p:cNvSpPr txBox="1"/>
          <p:nvPr/>
        </p:nvSpPr>
        <p:spPr>
          <a:xfrm>
            <a:off x="97455" y="5705866"/>
            <a:ext cx="11675453"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Dynamic hedge excels in both stress regimes</a:t>
            </a:r>
          </a:p>
          <a:p>
            <a:pPr marL="285750" indent="-285750">
              <a:buFont typeface="Arial" panose="020B0604020202020204" pitchFamily="34" charset="0"/>
              <a:buChar char="•"/>
            </a:pPr>
            <a:r>
              <a:rPr lang="en-US" b="1" dirty="0"/>
              <a:t>Static hedge offers partial defense but lacks adaptability </a:t>
            </a:r>
          </a:p>
          <a:p>
            <a:pPr marL="285750" indent="-285750">
              <a:buFont typeface="Arial" panose="020B0604020202020204" pitchFamily="34" charset="0"/>
              <a:buChar char="•"/>
            </a:pPr>
            <a:r>
              <a:rPr lang="en-US" b="1" dirty="0"/>
              <a:t>Unhedged strategy is highly exposed, which is only suitable for aggressive risk-tolerant strategies. </a:t>
            </a:r>
          </a:p>
        </p:txBody>
      </p:sp>
    </p:spTree>
    <p:extLst>
      <p:ext uri="{BB962C8B-B14F-4D97-AF65-F5344CB8AC3E}">
        <p14:creationId xmlns:p14="http://schemas.microsoft.com/office/powerpoint/2010/main" val="102128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Isosceles Triangle 2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slide10" descr="Story 19">
            <a:extLst>
              <a:ext uri="{FF2B5EF4-FFF2-40B4-BE49-F238E27FC236}">
                <a16:creationId xmlns:a16="http://schemas.microsoft.com/office/drawing/2014/main" id="{6E1C0A27-9E9A-4BF2-9E40-9F90869EE18C}"/>
              </a:ext>
            </a:extLst>
          </p:cNvPr>
          <p:cNvPicPr>
            <a:picLocks noChangeAspect="1"/>
          </p:cNvPicPr>
          <p:nvPr/>
        </p:nvPicPr>
        <p:blipFill>
          <a:blip r:embed="rId2">
            <a:extLst>
              <a:ext uri="{28A0092B-C50C-407E-A947-70E740481C1C}">
                <a14:useLocalDpi xmlns:a14="http://schemas.microsoft.com/office/drawing/2010/main" val="0"/>
              </a:ext>
            </a:extLst>
          </a:blip>
          <a:srcRect t="31967"/>
          <a:stretch>
            <a:fillRect/>
          </a:stretch>
        </p:blipFill>
        <p:spPr>
          <a:xfrm>
            <a:off x="195066" y="814506"/>
            <a:ext cx="8528534" cy="5018682"/>
          </a:xfrm>
          <a:prstGeom prst="rect">
            <a:avLst/>
          </a:prstGeom>
          <a:ln>
            <a:noFill/>
          </a:ln>
        </p:spPr>
      </p:pic>
      <p:sp>
        <p:nvSpPr>
          <p:cNvPr id="27" name="Isosceles Triangle 2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85AE4DB-F413-EC63-84F7-461526278EA5}"/>
              </a:ext>
            </a:extLst>
          </p:cNvPr>
          <p:cNvSpPr txBox="1"/>
          <p:nvPr/>
        </p:nvSpPr>
        <p:spPr>
          <a:xfrm>
            <a:off x="6334612" y="2719422"/>
            <a:ext cx="5411019" cy="2031325"/>
          </a:xfrm>
          <a:prstGeom prst="rect">
            <a:avLst/>
          </a:prstGeom>
          <a:noFill/>
        </p:spPr>
        <p:txBody>
          <a:bodyPr wrap="square" rtlCol="0">
            <a:spAutoFit/>
          </a:bodyPr>
          <a:lstStyle/>
          <a:p>
            <a:pPr marL="285750" indent="-285750">
              <a:buFont typeface="Arial" panose="020B0604020202020204" pitchFamily="34" charset="0"/>
              <a:buChar char="•"/>
            </a:pPr>
            <a:r>
              <a:rPr lang="en-US" b="1" dirty="0"/>
              <a:t>Dynamic hedge is the most protective during peak short-term loss by over 5 per cent compared to unhedged </a:t>
            </a:r>
          </a:p>
          <a:p>
            <a:pPr marL="285750" indent="-285750">
              <a:buFont typeface="Arial" panose="020B0604020202020204" pitchFamily="34" charset="0"/>
              <a:buChar char="•"/>
            </a:pPr>
            <a:r>
              <a:rPr lang="en-US" b="1" dirty="0"/>
              <a:t>Static Hedge offers moderate </a:t>
            </a:r>
            <a:r>
              <a:rPr lang="en-US" b="1" dirty="0" err="1"/>
              <a:t>defence</a:t>
            </a:r>
            <a:r>
              <a:rPr lang="en-US" b="1" dirty="0"/>
              <a:t>, but still trails behind in stress resilience </a:t>
            </a:r>
          </a:p>
          <a:p>
            <a:pPr marL="285750" indent="-285750">
              <a:buFont typeface="Arial" panose="020B0604020202020204" pitchFamily="34" charset="0"/>
              <a:buChar char="•"/>
            </a:pPr>
            <a:r>
              <a:rPr lang="en-US" b="1" dirty="0"/>
              <a:t>Unhedged portfolio is highly vulnerable in these situations, with the steepest loss </a:t>
            </a:r>
          </a:p>
        </p:txBody>
      </p:sp>
    </p:spTree>
    <p:extLst>
      <p:ext uri="{BB962C8B-B14F-4D97-AF65-F5344CB8AC3E}">
        <p14:creationId xmlns:p14="http://schemas.microsoft.com/office/powerpoint/2010/main" val="95992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6754B-C1C8-5461-947B-A9B89DB7A3F0}"/>
              </a:ext>
            </a:extLst>
          </p:cNvPr>
          <p:cNvSpPr>
            <a:spLocks noGrp="1"/>
          </p:cNvSpPr>
          <p:nvPr>
            <p:ph type="title"/>
          </p:nvPr>
        </p:nvSpPr>
        <p:spPr/>
        <p:txBody>
          <a:bodyPr/>
          <a:lstStyle/>
          <a:p>
            <a:r>
              <a:rPr lang="en-US" dirty="0"/>
              <a:t>Recommendations</a:t>
            </a:r>
            <a:endParaRPr lang="en-SG" dirty="0"/>
          </a:p>
        </p:txBody>
      </p:sp>
      <p:sp>
        <p:nvSpPr>
          <p:cNvPr id="3" name="Content Placeholder 2">
            <a:extLst>
              <a:ext uri="{FF2B5EF4-FFF2-40B4-BE49-F238E27FC236}">
                <a16:creationId xmlns:a16="http://schemas.microsoft.com/office/drawing/2014/main" id="{593D326E-4ACE-A855-DDDC-B440766FEA3F}"/>
              </a:ext>
            </a:extLst>
          </p:cNvPr>
          <p:cNvSpPr>
            <a:spLocks noGrp="1"/>
          </p:cNvSpPr>
          <p:nvPr>
            <p:ph idx="1"/>
          </p:nvPr>
        </p:nvSpPr>
        <p:spPr>
          <a:xfrm>
            <a:off x="838200" y="1825624"/>
            <a:ext cx="10515600" cy="4537075"/>
          </a:xfrm>
        </p:spPr>
        <p:txBody>
          <a:bodyPr>
            <a:normAutofit fontScale="92500" lnSpcReduction="10000"/>
          </a:bodyPr>
          <a:lstStyle/>
          <a:p>
            <a:r>
              <a:rPr lang="en-US" dirty="0"/>
              <a:t>Statistic Hedge is optimal for investors seeking a balance between return and risk (e.g., Pension Funds, Endowments).</a:t>
            </a:r>
            <a:endParaRPr lang="en-SG" dirty="0"/>
          </a:p>
          <a:p>
            <a:r>
              <a:rPr lang="en-US" dirty="0"/>
              <a:t> Dynamic Hedge is preferable for risk-averse investors or during high-beta regimes where capital preservation is the absolute priority (e.g., funds near distribution, highly leveraged portfolios).</a:t>
            </a:r>
            <a:endParaRPr lang="en-SG" dirty="0"/>
          </a:p>
          <a:p>
            <a:r>
              <a:rPr lang="en-SG" dirty="0"/>
              <a:t>Use dynamic hedging when there is macro uncertainty or increased beta (over 1.2), as determined by the Rolling Beta dashboard. </a:t>
            </a:r>
          </a:p>
          <a:p>
            <a:r>
              <a:rPr lang="en-SG" dirty="0"/>
              <a:t>Use beta dashboards and rolling correlation to track hedge performance in real time and serve as a regime change warning system. </a:t>
            </a:r>
          </a:p>
          <a:p>
            <a:r>
              <a:rPr lang="en-SG" dirty="0"/>
              <a:t>When the 90-day correlation is low or unstable, think about layering techniques like protective puts, as this provides better protection against the quick and abrupt shocks that rolling beta strategies frequently miss.</a:t>
            </a:r>
          </a:p>
          <a:p>
            <a:endParaRPr lang="en-SG" dirty="0"/>
          </a:p>
        </p:txBody>
      </p:sp>
    </p:spTree>
    <p:extLst>
      <p:ext uri="{BB962C8B-B14F-4D97-AF65-F5344CB8AC3E}">
        <p14:creationId xmlns:p14="http://schemas.microsoft.com/office/powerpoint/2010/main" val="2394296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2" name="Freeform: Shape 11">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7" name="Freeform: Shape 16">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1AD7B86-60EF-9751-B63B-B8A817EA10BD}"/>
              </a:ext>
            </a:extLst>
          </p:cNvPr>
          <p:cNvSpPr>
            <a:spLocks noGrp="1"/>
          </p:cNvSpPr>
          <p:nvPr>
            <p:ph type="title"/>
          </p:nvPr>
        </p:nvSpPr>
        <p:spPr>
          <a:xfrm>
            <a:off x="3215729" y="1764407"/>
            <a:ext cx="5760846" cy="2310312"/>
          </a:xfrm>
        </p:spPr>
        <p:txBody>
          <a:bodyPr vert="horz" lIns="91440" tIns="45720" rIns="91440" bIns="45720" rtlCol="0" anchor="b">
            <a:normAutofit/>
          </a:bodyPr>
          <a:lstStyle/>
          <a:p>
            <a:pPr algn="ctr"/>
            <a:r>
              <a:rPr lang="en-US" sz="5200" kern="1200">
                <a:solidFill>
                  <a:schemeClr val="tx2"/>
                </a:solidFill>
                <a:latin typeface="+mj-lt"/>
                <a:ea typeface="+mj-ea"/>
                <a:cs typeface="+mj-cs"/>
              </a:rPr>
              <a:t>Thank You</a:t>
            </a:r>
          </a:p>
        </p:txBody>
      </p:sp>
    </p:spTree>
    <p:extLst>
      <p:ext uri="{BB962C8B-B14F-4D97-AF65-F5344CB8AC3E}">
        <p14:creationId xmlns:p14="http://schemas.microsoft.com/office/powerpoint/2010/main" val="36916044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262</TotalTime>
  <Words>1466</Words>
  <Application>Microsoft Office PowerPoint</Application>
  <PresentationFormat>Widescreen</PresentationFormat>
  <Paragraphs>96</Paragraphs>
  <Slides>15</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Calibri</vt:lpstr>
      <vt:lpstr>Calibri Light</vt:lpstr>
      <vt:lpstr>Office Theme</vt:lpstr>
      <vt:lpstr>Navigating Volatility: Portfolio Hedging with Nvidia and QQQ</vt:lpstr>
      <vt:lpstr>Nvidia (NVDA)</vt:lpstr>
      <vt:lpstr>Invesco QQQ Trust (QQQ)</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Chan Chan</cp:lastModifiedBy>
  <cp:revision>9</cp:revision>
  <dcterms:created xsi:type="dcterms:W3CDTF">2025-11-23T14:48:10Z</dcterms:created>
  <dcterms:modified xsi:type="dcterms:W3CDTF">2025-11-24T10:49:27Z</dcterms:modified>
</cp:coreProperties>
</file>